
<file path=[Content_Types].xml><?xml version="1.0" encoding="utf-8"?>
<Types xmlns="http://schemas.openxmlformats.org/package/2006/content-types">
  <Default Extension="jpeg" ContentType="image/jpeg"/>
  <Default Extension="org&amp;utm_campaign=index&amp;utm_content=thumbnail" ContentType="image/pn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95" r:id="rId2"/>
    <p:sldId id="298" r:id="rId3"/>
    <p:sldId id="334" r:id="rId4"/>
    <p:sldId id="335" r:id="rId5"/>
    <p:sldId id="303" r:id="rId6"/>
    <p:sldId id="332" r:id="rId7"/>
    <p:sldId id="333" r:id="rId8"/>
    <p:sldId id="336" r:id="rId9"/>
    <p:sldId id="337" r:id="rId10"/>
    <p:sldId id="338" r:id="rId11"/>
    <p:sldId id="339" r:id="rId12"/>
    <p:sldId id="342" r:id="rId13"/>
    <p:sldId id="340" r:id="rId14"/>
    <p:sldId id="343" r:id="rId15"/>
    <p:sldId id="341" r:id="rId16"/>
    <p:sldId id="344" r:id="rId17"/>
    <p:sldId id="296" r:id="rId18"/>
  </p:sldIdLst>
  <p:sldSz cx="12192000" cy="6858000"/>
  <p:notesSz cx="6858000" cy="9144000"/>
  <p:defaultTextStyle>
    <a:defPPr>
      <a:defRPr lang="en-US"/>
    </a:defPPr>
    <a:lvl1pPr marL="0" algn="l" defTabSz="1088279" rtl="0" eaLnBrk="1" latinLnBrk="0" hangingPunct="1">
      <a:defRPr sz="2143" kern="1200">
        <a:solidFill>
          <a:schemeClr val="tx1"/>
        </a:solidFill>
        <a:latin typeface="+mn-lt"/>
        <a:ea typeface="+mn-ea"/>
        <a:cs typeface="+mn-cs"/>
      </a:defRPr>
    </a:lvl1pPr>
    <a:lvl2pPr marL="544139" algn="l" defTabSz="1088279" rtl="0" eaLnBrk="1" latinLnBrk="0" hangingPunct="1">
      <a:defRPr sz="2143" kern="1200">
        <a:solidFill>
          <a:schemeClr val="tx1"/>
        </a:solidFill>
        <a:latin typeface="+mn-lt"/>
        <a:ea typeface="+mn-ea"/>
        <a:cs typeface="+mn-cs"/>
      </a:defRPr>
    </a:lvl2pPr>
    <a:lvl3pPr marL="1088279" algn="l" defTabSz="1088279" rtl="0" eaLnBrk="1" latinLnBrk="0" hangingPunct="1">
      <a:defRPr sz="2143" kern="1200">
        <a:solidFill>
          <a:schemeClr val="tx1"/>
        </a:solidFill>
        <a:latin typeface="+mn-lt"/>
        <a:ea typeface="+mn-ea"/>
        <a:cs typeface="+mn-cs"/>
      </a:defRPr>
    </a:lvl3pPr>
    <a:lvl4pPr marL="1632418" algn="l" defTabSz="1088279" rtl="0" eaLnBrk="1" latinLnBrk="0" hangingPunct="1">
      <a:defRPr sz="2143" kern="1200">
        <a:solidFill>
          <a:schemeClr val="tx1"/>
        </a:solidFill>
        <a:latin typeface="+mn-lt"/>
        <a:ea typeface="+mn-ea"/>
        <a:cs typeface="+mn-cs"/>
      </a:defRPr>
    </a:lvl4pPr>
    <a:lvl5pPr marL="2176558" algn="l" defTabSz="1088279" rtl="0" eaLnBrk="1" latinLnBrk="0" hangingPunct="1">
      <a:defRPr sz="2143" kern="1200">
        <a:solidFill>
          <a:schemeClr val="tx1"/>
        </a:solidFill>
        <a:latin typeface="+mn-lt"/>
        <a:ea typeface="+mn-ea"/>
        <a:cs typeface="+mn-cs"/>
      </a:defRPr>
    </a:lvl5pPr>
    <a:lvl6pPr marL="2720696" algn="l" defTabSz="1088279" rtl="0" eaLnBrk="1" latinLnBrk="0" hangingPunct="1">
      <a:defRPr sz="2143" kern="1200">
        <a:solidFill>
          <a:schemeClr val="tx1"/>
        </a:solidFill>
        <a:latin typeface="+mn-lt"/>
        <a:ea typeface="+mn-ea"/>
        <a:cs typeface="+mn-cs"/>
      </a:defRPr>
    </a:lvl6pPr>
    <a:lvl7pPr marL="3264836" algn="l" defTabSz="1088279" rtl="0" eaLnBrk="1" latinLnBrk="0" hangingPunct="1">
      <a:defRPr sz="2143" kern="1200">
        <a:solidFill>
          <a:schemeClr val="tx1"/>
        </a:solidFill>
        <a:latin typeface="+mn-lt"/>
        <a:ea typeface="+mn-ea"/>
        <a:cs typeface="+mn-cs"/>
      </a:defRPr>
    </a:lvl7pPr>
    <a:lvl8pPr marL="3808976" algn="l" defTabSz="1088279" rtl="0" eaLnBrk="1" latinLnBrk="0" hangingPunct="1">
      <a:defRPr sz="2143" kern="1200">
        <a:solidFill>
          <a:schemeClr val="tx1"/>
        </a:solidFill>
        <a:latin typeface="+mn-lt"/>
        <a:ea typeface="+mn-ea"/>
        <a:cs typeface="+mn-cs"/>
      </a:defRPr>
    </a:lvl8pPr>
    <a:lvl9pPr marL="4353115" algn="l" defTabSz="1088279" rtl="0" eaLnBrk="1" latinLnBrk="0" hangingPunct="1">
      <a:defRPr sz="214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4DD88"/>
    <a:srgbClr val="00693E"/>
    <a:srgbClr val="00539B"/>
    <a:srgbClr val="F01D27"/>
    <a:srgbClr val="D8C726"/>
    <a:srgbClr val="77BD43"/>
    <a:srgbClr val="F081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165" autoAdjust="0"/>
    <p:restoredTop sz="96241" autoAdjust="0"/>
  </p:normalViewPr>
  <p:slideViewPr>
    <p:cSldViewPr showGuides="1">
      <p:cViewPr varScale="1">
        <p:scale>
          <a:sx n="137" d="100"/>
          <a:sy n="137" d="100"/>
        </p:scale>
        <p:origin x="216" y="16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48" d="100"/>
          <a:sy n="48" d="100"/>
        </p:scale>
        <p:origin x="-2724" y="-10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2A36AD-C140-47B5-A0AA-2808AF1C1C9D}" type="datetimeFigureOut">
              <a:rPr lang="en-AU" smtClean="0"/>
              <a:t>15/9/2026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A420D9-E2BA-4BD5-B845-F55DFC0118A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49784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63829E-EB69-4A98-9D54-8D6822520B27}" type="datetimeFigureOut">
              <a:rPr lang="en-AU" smtClean="0"/>
              <a:t>15/9/2026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F05BAA-92F6-4DEA-A832-E4B15A2F525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39978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88279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1pPr>
    <a:lvl2pPr marL="544139" algn="l" defTabSz="1088279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2pPr>
    <a:lvl3pPr marL="1088279" algn="l" defTabSz="1088279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3pPr>
    <a:lvl4pPr marL="1632418" algn="l" defTabSz="1088279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4pPr>
    <a:lvl5pPr marL="2176558" algn="l" defTabSz="1088279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5pPr>
    <a:lvl6pPr marL="2720696" algn="l" defTabSz="1088279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6pPr>
    <a:lvl7pPr marL="3264836" algn="l" defTabSz="1088279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7pPr>
    <a:lvl8pPr marL="3808976" algn="l" defTabSz="1088279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8pPr>
    <a:lvl9pPr marL="4353115" algn="l" defTabSz="1088279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en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02AB3C50-0815-4E72-B5C0-4CC01800180F}"/>
              </a:ext>
            </a:extLst>
          </p:cNvPr>
          <p:cNvSpPr/>
          <p:nvPr userDrawn="1"/>
        </p:nvSpPr>
        <p:spPr>
          <a:xfrm>
            <a:off x="3" y="0"/>
            <a:ext cx="12191999" cy="6858000"/>
          </a:xfrm>
          <a:prstGeom prst="rect">
            <a:avLst/>
          </a:prstGeom>
          <a:solidFill>
            <a:srgbClr val="0069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507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AD6D95E-88C9-4F51-9A96-C6DC690C4E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0996" y="244059"/>
            <a:ext cx="1274064" cy="138684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670AC6F-A8DE-43B1-AB32-8BCC2ADD0A5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1510" y="184205"/>
            <a:ext cx="2700330" cy="217696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bg1"/>
                </a:solidFill>
              </a:defRPr>
            </a:lvl1pPr>
            <a:lvl2pPr marL="101256" indent="0" algn="l">
              <a:buFontTx/>
              <a:buNone/>
              <a:defRPr sz="984"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[Current Date]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8D68E9-7018-4336-9CC4-C1AD98D0949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9981" y="1428599"/>
            <a:ext cx="3912001" cy="400080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98FB25-7404-4D17-BC12-C5C5BD3F89C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41686" y="6551473"/>
            <a:ext cx="523374" cy="217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CB9713-6169-4BCA-998A-1ECD71372D8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AU"/>
              <a:t>DevCouRSE – RESTful APIs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01579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A5B253F-6E57-4153-B4A9-E4A9AD7BE1DF}"/>
              </a:ext>
            </a:extLst>
          </p:cNvPr>
          <p:cNvSpPr/>
          <p:nvPr userDrawn="1"/>
        </p:nvSpPr>
        <p:spPr>
          <a:xfrm>
            <a:off x="3" y="0"/>
            <a:ext cx="12191999" cy="6858000"/>
          </a:xfrm>
          <a:prstGeom prst="rect">
            <a:avLst/>
          </a:prstGeom>
          <a:solidFill>
            <a:srgbClr val="0069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507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1510" y="1413894"/>
            <a:ext cx="10896586" cy="2015106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8298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[Presentation Title]</a:t>
            </a:r>
            <a:endParaRPr lang="en-AU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321508" y="3327723"/>
            <a:ext cx="10901097" cy="1819999"/>
          </a:xfrm>
        </p:spPr>
        <p:txBody>
          <a:bodyPr>
            <a:normAutofit/>
          </a:bodyPr>
          <a:lstStyle>
            <a:lvl1pPr marL="0" indent="0">
              <a:buNone/>
              <a:defRPr sz="4079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[Presenter Name]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3B3AAE-1896-4A98-A246-9A4E80DA46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963" y="246362"/>
            <a:ext cx="272301" cy="278483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02DA4E-EE8A-4DE3-A265-D45FF54BE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AU" dirty="0" err="1"/>
              <a:t>DevCouRSE</a:t>
            </a:r>
            <a:r>
              <a:rPr lang="en-AU" dirty="0"/>
              <a:t> – RESTful APIs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661B98-F50D-413A-B3C3-7FED0F3F2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1686" y="6551473"/>
            <a:ext cx="523374" cy="217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18A2211-08DC-44ED-BA4C-EA9B5E049F5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90996" y="244059"/>
            <a:ext cx="1274064" cy="1386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97731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A5B253F-6E57-4153-B4A9-E4A9AD7BE1DF}"/>
              </a:ext>
            </a:extLst>
          </p:cNvPr>
          <p:cNvSpPr/>
          <p:nvPr userDrawn="1"/>
        </p:nvSpPr>
        <p:spPr>
          <a:xfrm>
            <a:off x="3" y="0"/>
            <a:ext cx="12191999" cy="6858000"/>
          </a:xfrm>
          <a:prstGeom prst="rect">
            <a:avLst/>
          </a:prstGeom>
          <a:solidFill>
            <a:srgbClr val="0069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507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1509" y="1413894"/>
            <a:ext cx="7849618" cy="2015106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6118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[Section Title]</a:t>
            </a:r>
            <a:endParaRPr lang="en-AU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321508" y="2365639"/>
            <a:ext cx="7852868" cy="1620391"/>
          </a:xfrm>
        </p:spPr>
        <p:txBody>
          <a:bodyPr>
            <a:noAutofit/>
          </a:bodyPr>
          <a:lstStyle>
            <a:lvl1pPr marL="0" indent="0">
              <a:buNone/>
              <a:defRPr sz="2883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[Subtitle Information]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02DA4E-EE8A-4DE3-A265-D45FF54BE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AU"/>
              <a:t>DevCouRSE – RESTful APIs</a:t>
            </a:r>
            <a:endParaRPr lang="en-AU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661B98-F50D-413A-B3C3-7FED0F3F2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1686" y="6551473"/>
            <a:ext cx="523374" cy="217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AF41DB6-5AEA-408D-A5BF-F2AA2A9AA0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963" y="246362"/>
            <a:ext cx="272301" cy="27848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400AA1C-D441-4635-902A-1D054715368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90996" y="244059"/>
            <a:ext cx="1274064" cy="1386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E47D3B9-F438-E24F-9DFF-6C0E3C11CA7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8915400" y="819552"/>
            <a:ext cx="2108111" cy="552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804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A5B253F-6E57-4153-B4A9-E4A9AD7BE1DF}"/>
              </a:ext>
            </a:extLst>
          </p:cNvPr>
          <p:cNvSpPr/>
          <p:nvPr userDrawn="1"/>
        </p:nvSpPr>
        <p:spPr>
          <a:xfrm>
            <a:off x="3" y="0"/>
            <a:ext cx="12191999" cy="6858000"/>
          </a:xfrm>
          <a:prstGeom prst="rect">
            <a:avLst/>
          </a:prstGeom>
          <a:solidFill>
            <a:srgbClr val="0069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507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1511" y="1413894"/>
            <a:ext cx="7389409" cy="2015106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6118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[Section Title]</a:t>
            </a:r>
            <a:endParaRPr lang="en-AU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321508" y="2365639"/>
            <a:ext cx="7392468" cy="1620391"/>
          </a:xfrm>
        </p:spPr>
        <p:txBody>
          <a:bodyPr>
            <a:noAutofit/>
          </a:bodyPr>
          <a:lstStyle>
            <a:lvl1pPr marL="0" indent="0">
              <a:buNone/>
              <a:defRPr sz="2883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[Subtitle Information]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02DA4E-EE8A-4DE3-A265-D45FF54BE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AU"/>
              <a:t>DevCouRSE – RESTful APIs</a:t>
            </a:r>
            <a:endParaRPr lang="en-AU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661B98-F50D-413A-B3C3-7FED0F3F2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1686" y="6551473"/>
            <a:ext cx="523374" cy="217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700A36-47BB-4418-B306-3E7E3AC141E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186510" y="1426524"/>
            <a:ext cx="2724017" cy="47493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E12473B-6F9B-4A83-8856-23C5641F05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963" y="246362"/>
            <a:ext cx="272301" cy="27848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F56D179-7759-497B-8880-790CAAFA956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590996" y="244059"/>
            <a:ext cx="1274064" cy="1386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01031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A5B253F-6E57-4153-B4A9-E4A9AD7BE1DF}"/>
              </a:ext>
            </a:extLst>
          </p:cNvPr>
          <p:cNvSpPr/>
          <p:nvPr userDrawn="1"/>
        </p:nvSpPr>
        <p:spPr>
          <a:xfrm>
            <a:off x="3" y="0"/>
            <a:ext cx="12191999" cy="6858000"/>
          </a:xfrm>
          <a:prstGeom prst="rect">
            <a:avLst/>
          </a:prstGeom>
          <a:solidFill>
            <a:srgbClr val="0069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507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1511" y="1413894"/>
            <a:ext cx="7389409" cy="2015106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6118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[Section Title]</a:t>
            </a:r>
            <a:endParaRPr lang="en-AU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321508" y="2365639"/>
            <a:ext cx="7392468" cy="1620391"/>
          </a:xfrm>
        </p:spPr>
        <p:txBody>
          <a:bodyPr>
            <a:noAutofit/>
          </a:bodyPr>
          <a:lstStyle>
            <a:lvl1pPr marL="0" indent="0">
              <a:buNone/>
              <a:defRPr sz="2883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[Subtitle Information]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02DA4E-EE8A-4DE3-A265-D45FF54BE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AU"/>
              <a:t>DevCouRSE – RESTful APIs</a:t>
            </a:r>
            <a:endParaRPr lang="en-AU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661B98-F50D-413A-B3C3-7FED0F3F2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1686" y="6551473"/>
            <a:ext cx="523374" cy="217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C725145-F8C2-435E-83DA-3C6BFFE3B3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191889" y="2389194"/>
            <a:ext cx="2774745" cy="279236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DA09E0F-9A3D-42E9-BF40-D380876817F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963" y="246362"/>
            <a:ext cx="272301" cy="27848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9F43727-5D9C-4050-8B4D-49535AB73D8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590996" y="244059"/>
            <a:ext cx="1274064" cy="1386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3948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6EFBB34-E7A6-446F-8461-EDE7FE5D0D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80328" y="244059"/>
            <a:ext cx="1284732" cy="14478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321508" y="2365638"/>
            <a:ext cx="11546007" cy="412730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AF6CA74-EFFC-4784-A2B0-42206EF4D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88288C-36FD-45F0-A3A9-71488442593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2383047" y="184261"/>
            <a:ext cx="7425906" cy="2171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AU"/>
              <a:t>DevCouRSE – RESTful APIs</a:t>
            </a:r>
            <a:endParaRPr lang="en-AU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BB7F35-A287-4632-A2D6-444EC97FAC8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41686" y="6551473"/>
            <a:ext cx="523374" cy="217125"/>
          </a:xfrm>
        </p:spPr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157881E-E143-4217-816A-8C4E380EDD7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963" y="246362"/>
            <a:ext cx="272301" cy="278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759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21507" y="2365635"/>
            <a:ext cx="5636938" cy="4127304"/>
          </a:xfrm>
        </p:spPr>
        <p:txBody>
          <a:bodyPr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30577" y="2365635"/>
            <a:ext cx="5636938" cy="4127304"/>
          </a:xfrm>
        </p:spPr>
        <p:txBody>
          <a:bodyPr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337B9FB-8EDC-4415-A524-2F201C5737B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ctr"/>
            <a:r>
              <a:rPr lang="en-AU"/>
              <a:t>DevCouRSE – RESTful APIs</a:t>
            </a:r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F47635-3CC7-4ECB-95A2-A2A3336B00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341686" y="6551473"/>
            <a:ext cx="523374" cy="217125"/>
          </a:xfrm>
        </p:spPr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B0B422-09F3-401B-BCC9-0BD19CBF8F1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80328" y="244059"/>
            <a:ext cx="1284732" cy="144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B79A268-DC64-46CE-B24E-6EA4998BFC0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963" y="246362"/>
            <a:ext cx="272301" cy="278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810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Numb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21507" y="2365635"/>
            <a:ext cx="5636938" cy="4127304"/>
          </a:xfrm>
        </p:spPr>
        <p:txBody>
          <a:bodyPr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30577" y="2365635"/>
            <a:ext cx="5636938" cy="4127304"/>
          </a:xfrm>
        </p:spPr>
        <p:txBody>
          <a:bodyPr>
            <a:normAutofit/>
          </a:bodyPr>
          <a:lstStyle>
            <a:lvl1pPr marL="202512" indent="-202512">
              <a:buFont typeface="+mj-lt"/>
              <a:buAutoNum type="arabicPeriod"/>
              <a:defRPr lang="en-US" sz="1600" b="0" i="0" dirty="0" smtClean="0">
                <a:latin typeface="National 2" charset="0"/>
                <a:ea typeface="National 2" charset="0"/>
                <a:cs typeface="National 2" charset="0"/>
              </a:defRPr>
            </a:lvl1pPr>
            <a:lvl2pPr marL="405023" indent="-202512">
              <a:buFont typeface="+mj-lt"/>
              <a:buAutoNum type="alphaLcPeriod"/>
              <a:defRPr lang="en-US" sz="1600" b="0" i="0" dirty="0" smtClean="0">
                <a:latin typeface="National 2" charset="0"/>
                <a:ea typeface="National 2" charset="0"/>
                <a:cs typeface="National 2" charset="0"/>
              </a:defRPr>
            </a:lvl2pPr>
            <a:lvl3pPr marL="607535" indent="-202046">
              <a:buFont typeface="+mj-lt"/>
              <a:buAutoNum type="romanLcPeriod"/>
              <a:defRPr lang="en-US" sz="1600" b="0" i="0" dirty="0" smtClean="0">
                <a:latin typeface="National 2" charset="0"/>
                <a:ea typeface="National 2" charset="0"/>
                <a:cs typeface="National 2" charset="0"/>
              </a:defRPr>
            </a:lvl3pPr>
            <a:lvl4pPr marL="810046" indent="-202512">
              <a:buFont typeface="+mj-lt"/>
              <a:buAutoNum type="arabicPeriod"/>
              <a:defRPr lang="en-US" sz="1600" b="0" i="0" dirty="0" smtClean="0">
                <a:latin typeface="National 2" charset="0"/>
                <a:ea typeface="National 2" charset="0"/>
                <a:cs typeface="National 2" charset="0"/>
              </a:defRPr>
            </a:lvl4pPr>
            <a:lvl5pPr marL="1012558" indent="-202512">
              <a:buFont typeface="+mj-lt"/>
              <a:buAutoNum type="alphaLcPeriod"/>
              <a:defRPr lang="en-US" sz="1600" b="0" i="0" dirty="0">
                <a:latin typeface="National 2" charset="0"/>
                <a:ea typeface="National 2" charset="0"/>
                <a:cs typeface="National 2" charset="0"/>
              </a:defRPr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337B9FB-8EDC-4415-A524-2F201C5737B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ctr"/>
            <a:r>
              <a:rPr lang="en-AU"/>
              <a:t>DevCouRSE – RESTful APIs</a:t>
            </a:r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F47635-3CC7-4ECB-95A2-A2A3336B00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341686" y="6551473"/>
            <a:ext cx="523374" cy="217125"/>
          </a:xfrm>
        </p:spPr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222980-9FEA-47AB-8160-1C295975327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80328" y="244059"/>
            <a:ext cx="1284732" cy="144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759DED6-E107-4AF2-B3B8-51B167296C6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963" y="246362"/>
            <a:ext cx="272301" cy="278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414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&amp;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21510" y="2365638"/>
            <a:ext cx="4356661" cy="4127303"/>
          </a:xfrm>
        </p:spPr>
        <p:txBody>
          <a:bodyPr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5014596" y="1391443"/>
            <a:ext cx="6853375" cy="5101499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lang="en-AU" dirty="0"/>
            </a:lvl1pPr>
            <a:lvl2pPr marL="321487" indent="0">
              <a:buNone/>
              <a:defRPr sz="1969"/>
            </a:lvl2pPr>
            <a:lvl3pPr marL="642974" indent="0">
              <a:buNone/>
              <a:defRPr sz="1688"/>
            </a:lvl3pPr>
            <a:lvl4pPr marL="964461" indent="0">
              <a:buNone/>
              <a:defRPr sz="1406"/>
            </a:lvl4pPr>
            <a:lvl5pPr marL="1285948" indent="0">
              <a:buNone/>
              <a:defRPr sz="1406"/>
            </a:lvl5pPr>
            <a:lvl6pPr marL="1607435" indent="0">
              <a:buNone/>
              <a:defRPr sz="1406"/>
            </a:lvl6pPr>
            <a:lvl7pPr marL="1928923" indent="0">
              <a:buNone/>
              <a:defRPr sz="1406"/>
            </a:lvl7pPr>
            <a:lvl8pPr marL="2250409" indent="0">
              <a:buNone/>
              <a:defRPr sz="1406"/>
            </a:lvl8pPr>
            <a:lvl9pPr marL="2571896" indent="0">
              <a:buNone/>
              <a:defRPr sz="1406"/>
            </a:lvl9pPr>
          </a:lstStyle>
          <a:p>
            <a:r>
              <a:rPr lang="en-US" dirty="0"/>
              <a:t>Click icon to add picture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AU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10DF5E2-898A-4655-8EEC-B0414254D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425" y="1391440"/>
            <a:ext cx="4341744" cy="9235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0D38F6-0EA2-4AD3-A861-786EE93C8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AU"/>
              <a:t>DevCouRSE – RESTful APIs</a:t>
            </a:r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FA721E-E332-4C68-9D4C-F4A8D423B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1686" y="6551473"/>
            <a:ext cx="523374" cy="217125"/>
          </a:xfrm>
        </p:spPr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177E974-6222-4E14-8F53-1A35F8F2DE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80328" y="244059"/>
            <a:ext cx="1284732" cy="144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0A0BD44-827B-47CD-8BFA-2A4BD387B40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963" y="246362"/>
            <a:ext cx="272301" cy="278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810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&amp; Picture Cr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21510" y="2365638"/>
            <a:ext cx="4356661" cy="4127303"/>
          </a:xfrm>
        </p:spPr>
        <p:txBody>
          <a:bodyPr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5014596" y="1391440"/>
            <a:ext cx="6853375" cy="3455448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lang="en-AU" dirty="0"/>
            </a:lvl1pPr>
            <a:lvl2pPr marL="321487" indent="0">
              <a:buNone/>
              <a:defRPr sz="1969"/>
            </a:lvl2pPr>
            <a:lvl3pPr marL="642974" indent="0">
              <a:buNone/>
              <a:defRPr sz="1688"/>
            </a:lvl3pPr>
            <a:lvl4pPr marL="964461" indent="0">
              <a:buNone/>
              <a:defRPr sz="1406"/>
            </a:lvl4pPr>
            <a:lvl5pPr marL="1285948" indent="0">
              <a:buNone/>
              <a:defRPr sz="1406"/>
            </a:lvl5pPr>
            <a:lvl6pPr marL="1607435" indent="0">
              <a:buNone/>
              <a:defRPr sz="1406"/>
            </a:lvl6pPr>
            <a:lvl7pPr marL="1928923" indent="0">
              <a:buNone/>
              <a:defRPr sz="1406"/>
            </a:lvl7pPr>
            <a:lvl8pPr marL="2250409" indent="0">
              <a:buNone/>
              <a:defRPr sz="1406"/>
            </a:lvl8pPr>
            <a:lvl9pPr marL="2571896" indent="0">
              <a:buNone/>
              <a:defRPr sz="1406"/>
            </a:lvl9pPr>
          </a:lstStyle>
          <a:p>
            <a:r>
              <a:rPr lang="en-US" dirty="0"/>
              <a:t>Click icon to add picture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AU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10DF5E2-898A-4655-8EEC-B0414254D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425" y="1391440"/>
            <a:ext cx="4341744" cy="9235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0D38F6-0EA2-4AD3-A861-786EE93C8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AU"/>
              <a:t>DevCouRSE – RESTful APIs</a:t>
            </a:r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FA721E-E332-4C68-9D4C-F4A8D423B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1686" y="6551473"/>
            <a:ext cx="523374" cy="217125"/>
          </a:xfrm>
        </p:spPr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5C3957F-CBD5-45F4-9139-BE2AD9F3D77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80328" y="244059"/>
            <a:ext cx="1284732" cy="144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D7466EE-1402-4AD3-84F3-D1DF7AB79A5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963" y="246362"/>
            <a:ext cx="272301" cy="278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78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&amp;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21510" y="2365638"/>
            <a:ext cx="4356661" cy="4127303"/>
          </a:xfrm>
        </p:spPr>
        <p:txBody>
          <a:bodyPr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5014596" y="1391440"/>
            <a:ext cx="6853375" cy="3455448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lang="en-AU" dirty="0"/>
            </a:lvl1pPr>
            <a:lvl2pPr marL="321487" indent="0">
              <a:buNone/>
              <a:defRPr sz="1969"/>
            </a:lvl2pPr>
            <a:lvl3pPr marL="642974" indent="0">
              <a:buNone/>
              <a:defRPr sz="1688"/>
            </a:lvl3pPr>
            <a:lvl4pPr marL="964461" indent="0">
              <a:buNone/>
              <a:defRPr sz="1406"/>
            </a:lvl4pPr>
            <a:lvl5pPr marL="1285948" indent="0">
              <a:buNone/>
              <a:defRPr sz="1406"/>
            </a:lvl5pPr>
            <a:lvl6pPr marL="1607435" indent="0">
              <a:buNone/>
              <a:defRPr sz="1406"/>
            </a:lvl6pPr>
            <a:lvl7pPr marL="1928923" indent="0">
              <a:buNone/>
              <a:defRPr sz="1406"/>
            </a:lvl7pPr>
            <a:lvl8pPr marL="2250409" indent="0">
              <a:buNone/>
              <a:defRPr sz="1406"/>
            </a:lvl8pPr>
            <a:lvl9pPr marL="2571896" indent="0">
              <a:buNone/>
              <a:defRPr sz="1406"/>
            </a:lvl9pPr>
          </a:lstStyle>
          <a:p>
            <a:r>
              <a:rPr lang="en-US" dirty="0"/>
              <a:t>Click icon to add picture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AU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10DF5E2-898A-4655-8EEC-B0414254D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425" y="1391440"/>
            <a:ext cx="4341744" cy="9235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0D38F6-0EA2-4AD3-A861-786EE93C8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AU"/>
              <a:t>DevCouRSE – RESTful APIs</a:t>
            </a:r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FA721E-E332-4C68-9D4C-F4A8D423B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1686" y="6551473"/>
            <a:ext cx="523374" cy="217125"/>
          </a:xfrm>
        </p:spPr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4CC70461-48C5-43F7-8FBF-36F351503D81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5014594" y="4925838"/>
            <a:ext cx="2939950" cy="156710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lang="en-AU" dirty="0"/>
            </a:lvl1pPr>
            <a:lvl2pPr marL="321487" indent="0">
              <a:buNone/>
              <a:defRPr sz="1969"/>
            </a:lvl2pPr>
            <a:lvl3pPr marL="642974" indent="0">
              <a:buNone/>
              <a:defRPr sz="1688"/>
            </a:lvl3pPr>
            <a:lvl4pPr marL="964461" indent="0">
              <a:buNone/>
              <a:defRPr sz="1406"/>
            </a:lvl4pPr>
            <a:lvl5pPr marL="1285948" indent="0">
              <a:buNone/>
              <a:defRPr sz="1406"/>
            </a:lvl5pPr>
            <a:lvl6pPr marL="1607435" indent="0">
              <a:buNone/>
              <a:defRPr sz="1406"/>
            </a:lvl6pPr>
            <a:lvl7pPr marL="1928923" indent="0">
              <a:buNone/>
              <a:defRPr sz="1406"/>
            </a:lvl7pPr>
            <a:lvl8pPr marL="2250409" indent="0">
              <a:buNone/>
              <a:defRPr sz="1406"/>
            </a:lvl8pPr>
            <a:lvl9pPr marL="2571896" indent="0">
              <a:buNone/>
              <a:defRPr sz="1406"/>
            </a:lvl9pPr>
          </a:lstStyle>
          <a:p>
            <a:r>
              <a:rPr lang="en-US" dirty="0"/>
              <a:t>Click icon to add picture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AU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A945B0B-FD87-427B-B1C8-DF115B45F6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80328" y="244059"/>
            <a:ext cx="1284732" cy="144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054FC01-F717-4A46-B98F-96CECAD73C5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963" y="246362"/>
            <a:ext cx="272301" cy="278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416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&amp; Picture (ble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5036129" y="257"/>
            <a:ext cx="7155873" cy="6857743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lang="en-AU" dirty="0"/>
            </a:lvl1pPr>
            <a:lvl2pPr marL="321487" indent="0">
              <a:buNone/>
              <a:defRPr sz="1969"/>
            </a:lvl2pPr>
            <a:lvl3pPr marL="642974" indent="0">
              <a:buNone/>
              <a:defRPr sz="1688"/>
            </a:lvl3pPr>
            <a:lvl4pPr marL="964461" indent="0">
              <a:buNone/>
              <a:defRPr sz="1406"/>
            </a:lvl4pPr>
            <a:lvl5pPr marL="1285948" indent="0">
              <a:buNone/>
              <a:defRPr sz="1406"/>
            </a:lvl5pPr>
            <a:lvl6pPr marL="1607435" indent="0">
              <a:buNone/>
              <a:defRPr sz="1406"/>
            </a:lvl6pPr>
            <a:lvl7pPr marL="1928923" indent="0">
              <a:buNone/>
              <a:defRPr sz="1406"/>
            </a:lvl7pPr>
            <a:lvl8pPr marL="2250409" indent="0">
              <a:buNone/>
              <a:defRPr sz="1406"/>
            </a:lvl8pPr>
            <a:lvl9pPr marL="2571896" indent="0">
              <a:buNone/>
              <a:defRPr sz="1406"/>
            </a:lvl9pPr>
          </a:lstStyle>
          <a:p>
            <a:r>
              <a:rPr lang="en-US" dirty="0"/>
              <a:t>Click icon to add picture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21510" y="2365638"/>
            <a:ext cx="4356661" cy="4127303"/>
          </a:xfrm>
        </p:spPr>
        <p:txBody>
          <a:bodyPr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10DF5E2-898A-4655-8EEC-B0414254D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425" y="1391440"/>
            <a:ext cx="4341744" cy="9235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FA721E-E332-4C68-9D4C-F4A8D423B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1686" y="6551473"/>
            <a:ext cx="523374" cy="217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D7A19B3-ADC4-46A3-BF00-57B86B7CFA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963" y="246362"/>
            <a:ext cx="272301" cy="278483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560" y="246362"/>
            <a:ext cx="1288500" cy="134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170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&amp; Text (ble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0" y="2"/>
            <a:ext cx="7155873" cy="6857743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lang="en-AU" dirty="0"/>
            </a:lvl1pPr>
            <a:lvl2pPr marL="321487" indent="0">
              <a:buNone/>
              <a:defRPr sz="1969"/>
            </a:lvl2pPr>
            <a:lvl3pPr marL="642974" indent="0">
              <a:buNone/>
              <a:defRPr sz="1688"/>
            </a:lvl3pPr>
            <a:lvl4pPr marL="964461" indent="0">
              <a:buNone/>
              <a:defRPr sz="1406"/>
            </a:lvl4pPr>
            <a:lvl5pPr marL="1285948" indent="0">
              <a:buNone/>
              <a:defRPr sz="1406"/>
            </a:lvl5pPr>
            <a:lvl6pPr marL="1607435" indent="0">
              <a:buNone/>
              <a:defRPr sz="1406"/>
            </a:lvl6pPr>
            <a:lvl7pPr marL="1928923" indent="0">
              <a:buNone/>
              <a:defRPr sz="1406"/>
            </a:lvl7pPr>
            <a:lvl8pPr marL="2250409" indent="0">
              <a:buNone/>
              <a:defRPr sz="1406"/>
            </a:lvl8pPr>
            <a:lvl9pPr marL="2571896" indent="0">
              <a:buNone/>
              <a:defRPr sz="1406"/>
            </a:lvl9pPr>
          </a:lstStyle>
          <a:p>
            <a:r>
              <a:rPr lang="en-US" dirty="0"/>
              <a:t>Click icon to add picture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7513830" y="2365638"/>
            <a:ext cx="4356661" cy="4127303"/>
          </a:xfrm>
        </p:spPr>
        <p:txBody>
          <a:bodyPr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10DF5E2-898A-4655-8EEC-B0414254D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8747" y="1391440"/>
            <a:ext cx="4341744" cy="9235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FA721E-E332-4C68-9D4C-F4A8D423B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1686" y="6551473"/>
            <a:ext cx="523374" cy="217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5B49BA5-9018-4446-A86F-4EE58D7173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80328" y="244059"/>
            <a:ext cx="1284732" cy="144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D7A19B3-ADC4-46A3-BF00-57B86B7CFAE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963" y="246362"/>
            <a:ext cx="272301" cy="278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872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icture (Ble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6858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lang="en-AU" dirty="0"/>
            </a:lvl1pPr>
            <a:lvl2pPr marL="321487" indent="0">
              <a:buNone/>
              <a:defRPr sz="1969"/>
            </a:lvl2pPr>
            <a:lvl3pPr marL="642974" indent="0">
              <a:buNone/>
              <a:defRPr sz="1688"/>
            </a:lvl3pPr>
            <a:lvl4pPr marL="964461" indent="0">
              <a:buNone/>
              <a:defRPr sz="1406"/>
            </a:lvl4pPr>
            <a:lvl5pPr marL="1285948" indent="0">
              <a:buNone/>
              <a:defRPr sz="1406"/>
            </a:lvl5pPr>
            <a:lvl6pPr marL="1607435" indent="0">
              <a:buNone/>
              <a:defRPr sz="1406"/>
            </a:lvl6pPr>
            <a:lvl7pPr marL="1928923" indent="0">
              <a:buNone/>
              <a:defRPr sz="1406"/>
            </a:lvl7pPr>
            <a:lvl8pPr marL="2250409" indent="0">
              <a:buNone/>
              <a:defRPr sz="1406"/>
            </a:lvl8pPr>
            <a:lvl9pPr marL="2571896" indent="0">
              <a:buNone/>
              <a:defRPr sz="1406"/>
            </a:lvl9pPr>
          </a:lstStyle>
          <a:p>
            <a:r>
              <a:rPr lang="en-AU" dirty="0"/>
              <a:t>Click icon to add picture</a:t>
            </a:r>
            <a:br>
              <a:rPr lang="en-AU" dirty="0"/>
            </a:br>
            <a:br>
              <a:rPr lang="en-AU" dirty="0"/>
            </a:br>
            <a:br>
              <a:rPr lang="en-AU" dirty="0"/>
            </a:br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B83DCC-83B4-4DDF-A2DD-53EA890722E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41686" y="6551473"/>
            <a:ext cx="523374" cy="217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6560" y="246362"/>
            <a:ext cx="1288500" cy="1349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D7A19B3-ADC4-46A3-BF00-57B86B7CFAE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963" y="246362"/>
            <a:ext cx="272301" cy="278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763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hird Two Third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434298" y="2367188"/>
            <a:ext cx="7425906" cy="4126295"/>
          </a:xfrm>
        </p:spPr>
        <p:txBody>
          <a:bodyPr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  <a:lvl6pPr>
              <a:defRPr sz="1406"/>
            </a:lvl6pPr>
            <a:lvl7pPr>
              <a:defRPr sz="1406"/>
            </a:lvl7pPr>
            <a:lvl8pPr>
              <a:defRPr sz="1406"/>
            </a:lvl8pPr>
            <a:lvl9pPr>
              <a:defRPr sz="1406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321508" y="2365636"/>
            <a:ext cx="3708586" cy="4126295"/>
          </a:xfrm>
        </p:spPr>
        <p:txBody>
          <a:bodyPr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  <a:lvl6pPr>
              <a:defRPr sz="1406"/>
            </a:lvl6pPr>
            <a:lvl7pPr>
              <a:defRPr sz="1406"/>
            </a:lvl7pPr>
            <a:lvl8pPr>
              <a:defRPr sz="1406"/>
            </a:lvl8pPr>
            <a:lvl9pPr>
              <a:defRPr sz="1406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A15CE4-9C5B-4DD4-9334-613E584A8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210B5A-E47F-4858-B45E-5B1BEE8B2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AU"/>
              <a:t>DevCouRSE – RESTful APIs</a:t>
            </a:r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22C6C2-929C-48AB-A46A-05FC0AD94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1686" y="6551473"/>
            <a:ext cx="523374" cy="217125"/>
          </a:xfrm>
        </p:spPr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308A26F-06F2-4E9D-90D3-59B5F051701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80328" y="244059"/>
            <a:ext cx="1284732" cy="144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0F2FEF4-AC70-4D84-9B67-5A54BD0F33A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963" y="246362"/>
            <a:ext cx="272301" cy="278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981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hird One Third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21508" y="2365638"/>
            <a:ext cx="7441994" cy="4127303"/>
          </a:xfrm>
        </p:spPr>
        <p:txBody>
          <a:bodyPr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  <a:lvl6pPr>
              <a:defRPr sz="1406"/>
            </a:lvl6pPr>
            <a:lvl7pPr>
              <a:defRPr sz="1406"/>
            </a:lvl7pPr>
            <a:lvl8pPr>
              <a:defRPr sz="1406"/>
            </a:lvl8pPr>
            <a:lvl9pPr>
              <a:defRPr sz="1406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8141451" y="2365639"/>
            <a:ext cx="3712953" cy="4127303"/>
          </a:xfrm>
        </p:spPr>
        <p:txBody>
          <a:bodyPr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  <a:lvl6pPr>
              <a:defRPr sz="1406"/>
            </a:lvl6pPr>
            <a:lvl7pPr>
              <a:defRPr sz="1406"/>
            </a:lvl7pPr>
            <a:lvl8pPr>
              <a:defRPr sz="1406"/>
            </a:lvl8pPr>
            <a:lvl9pPr>
              <a:defRPr sz="1406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4D7C67-E5F6-43C5-997F-6434DA21F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584D73-4796-4164-B818-FA3C28E0B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AU"/>
              <a:t>DevCouRSE – RESTful APIs</a:t>
            </a:r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262CB5-7592-412B-8108-8BFA3C6D8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1686" y="6551473"/>
            <a:ext cx="523374" cy="217125"/>
          </a:xfrm>
        </p:spPr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40F9683-AEE5-4C7C-8337-8F0333B05A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80328" y="244059"/>
            <a:ext cx="1284732" cy="144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4A82EE6-5B2A-4D35-9636-3FF0F8DEBCC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963" y="246362"/>
            <a:ext cx="272301" cy="278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524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Layout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21511" y="2365636"/>
            <a:ext cx="11543658" cy="1974696"/>
          </a:xfrm>
        </p:spPr>
        <p:txBody>
          <a:bodyPr/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338777" y="4495699"/>
            <a:ext cx="11543658" cy="1974696"/>
          </a:xfrm>
        </p:spPr>
        <p:txBody>
          <a:bodyPr/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6DFF93-5525-475A-BA2F-1F0C4F78D56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ctr"/>
            <a:r>
              <a:rPr lang="en-AU"/>
              <a:t>DevCouRSE – RESTful APIs</a:t>
            </a:r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DE2A29-28F0-4172-8807-541DB74FB84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341686" y="6551473"/>
            <a:ext cx="523374" cy="217125"/>
          </a:xfrm>
        </p:spPr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EE7CF56-F1E5-4795-9265-7AD96EC856C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80328" y="244059"/>
            <a:ext cx="1284732" cy="144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389AB79-1006-4785-9565-5855A6C4642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963" y="246362"/>
            <a:ext cx="272301" cy="278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134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tter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AE5D8E-5794-4172-9477-A462C7ED67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8564" y="257"/>
            <a:ext cx="7193436" cy="6857743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321508" y="2365638"/>
            <a:ext cx="4341744" cy="4127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AF6CA74-EFFC-4784-A2B0-42206EF4D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425" y="1391440"/>
            <a:ext cx="4341744" cy="9235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BB7F35-A287-4632-A2D6-444EC97FAC8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41686" y="6551473"/>
            <a:ext cx="523374" cy="217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B352C9B-A878-4E28-8F19-9BFE09A0DF8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963" y="246362"/>
            <a:ext cx="272301" cy="27848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CFD2763-69FC-4FBC-A018-A5B79D9BF1C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590996" y="244059"/>
            <a:ext cx="1274064" cy="1386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46771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tter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F88F8E-C995-44E9-88C3-777D604D7D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8564" y="257"/>
            <a:ext cx="7193436" cy="6857743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321508" y="2365638"/>
            <a:ext cx="4341744" cy="4127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AF6CA74-EFFC-4784-A2B0-42206EF4D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425" y="1391440"/>
            <a:ext cx="4341744" cy="9235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BB7F35-A287-4632-A2D6-444EC97FAC8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41686" y="6551473"/>
            <a:ext cx="523374" cy="217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222DE8C-193B-40D2-86E4-37390E84CCA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963" y="246362"/>
            <a:ext cx="272301" cy="2784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82B9284-71F9-4742-8BC8-CBD640B6E8C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590996" y="244059"/>
            <a:ext cx="1274064" cy="1386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21224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tter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6E66D3-31E0-4E7E-974A-CBAF78AFBE7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8564" y="130"/>
            <a:ext cx="7193436" cy="6857743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321508" y="2365638"/>
            <a:ext cx="4341744" cy="4127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AF6CA74-EFFC-4784-A2B0-42206EF4D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425" y="1391440"/>
            <a:ext cx="4341744" cy="9235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BB7F35-A287-4632-A2D6-444EC97FAC8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41686" y="6551473"/>
            <a:ext cx="523374" cy="217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C8D64DB-0525-4239-B7EF-7462FB2A80A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963" y="246362"/>
            <a:ext cx="272301" cy="2784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0135A38-8B72-4CF7-A576-8AB549768E0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590996" y="244059"/>
            <a:ext cx="1274064" cy="1386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05461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tter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F37C1B2-371D-4FFC-9EBF-0783BD761A79}"/>
              </a:ext>
            </a:extLst>
          </p:cNvPr>
          <p:cNvSpPr/>
          <p:nvPr userDrawn="1"/>
        </p:nvSpPr>
        <p:spPr>
          <a:xfrm>
            <a:off x="5090766" y="0"/>
            <a:ext cx="710873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507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321508" y="2365638"/>
            <a:ext cx="4341744" cy="4127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AF6CA74-EFFC-4784-A2B0-42206EF4D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425" y="1391440"/>
            <a:ext cx="4341744" cy="9235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BB7F35-A287-4632-A2D6-444EC97FAC8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41686" y="6551473"/>
            <a:ext cx="523374" cy="217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927E38-93E1-4C04-83A5-FBD94BE75C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751525" y="1108171"/>
            <a:ext cx="1787218" cy="46830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F6DF0E0-E4B3-49BF-A9CB-B5C1AC69E3A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963" y="246362"/>
            <a:ext cx="272301" cy="27848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E62FCC1-F0E2-4D15-B831-1642D56F9DA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590996" y="244059"/>
            <a:ext cx="1274064" cy="1386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26332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tter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F37C1B2-371D-4FFC-9EBF-0783BD761A79}"/>
              </a:ext>
            </a:extLst>
          </p:cNvPr>
          <p:cNvSpPr/>
          <p:nvPr userDrawn="1"/>
        </p:nvSpPr>
        <p:spPr>
          <a:xfrm>
            <a:off x="5090766" y="0"/>
            <a:ext cx="7108737" cy="6858000"/>
          </a:xfrm>
          <a:prstGeom prst="rect">
            <a:avLst/>
          </a:prstGeom>
          <a:solidFill>
            <a:srgbClr val="0069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507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321508" y="2365638"/>
            <a:ext cx="4341744" cy="4127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AF6CA74-EFFC-4784-A2B0-42206EF4D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425" y="1391440"/>
            <a:ext cx="4341744" cy="9235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BB7F35-A287-4632-A2D6-444EC97FAC8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41686" y="6551473"/>
            <a:ext cx="523374" cy="217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6605E55-8F6E-49C2-A14D-4F7EA9A247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681536" y="1396696"/>
            <a:ext cx="3951494" cy="397658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349E37B-FA5B-427F-9B9C-C22AEEF4649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963" y="246362"/>
            <a:ext cx="272301" cy="27848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56D3671-8BF4-4081-90DB-6B512B6793F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590996" y="244059"/>
            <a:ext cx="1274064" cy="1386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77404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ttern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F37C1B2-371D-4FFC-9EBF-0783BD761A79}"/>
              </a:ext>
            </a:extLst>
          </p:cNvPr>
          <p:cNvSpPr/>
          <p:nvPr userDrawn="1"/>
        </p:nvSpPr>
        <p:spPr>
          <a:xfrm>
            <a:off x="5090766" y="0"/>
            <a:ext cx="7108737" cy="6858000"/>
          </a:xfrm>
          <a:prstGeom prst="rect">
            <a:avLst/>
          </a:prstGeom>
          <a:solidFill>
            <a:srgbClr val="0069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507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321508" y="2365638"/>
            <a:ext cx="4341744" cy="4127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AF6CA74-EFFC-4784-A2B0-42206EF4D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425" y="1391440"/>
            <a:ext cx="4341744" cy="9235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BB7F35-A287-4632-A2D6-444EC97FAC8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341686" y="6551473"/>
            <a:ext cx="523374" cy="217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F36A6A2-B679-4575-A369-2D9B0C88111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246751" y="1126129"/>
            <a:ext cx="2724017" cy="474934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9B8E51D-8667-4AE7-98D9-FD5D60E1E0D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963" y="246362"/>
            <a:ext cx="272301" cy="27848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0C0D460-F225-460B-BB60-8A162372132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590996" y="244059"/>
            <a:ext cx="1274064" cy="1386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70829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A5B253F-6E57-4153-B4A9-E4A9AD7BE1DF}"/>
              </a:ext>
            </a:extLst>
          </p:cNvPr>
          <p:cNvSpPr/>
          <p:nvPr userDrawn="1"/>
        </p:nvSpPr>
        <p:spPr>
          <a:xfrm>
            <a:off x="3" y="0"/>
            <a:ext cx="12191999" cy="6858000"/>
          </a:xfrm>
          <a:prstGeom prst="rect">
            <a:avLst/>
          </a:prstGeom>
          <a:solidFill>
            <a:srgbClr val="0069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507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1509" y="1352808"/>
            <a:ext cx="11537524" cy="4417585"/>
          </a:xfrm>
        </p:spPr>
        <p:txBody>
          <a:bodyPr anchor="ctr">
            <a:noAutofit/>
          </a:bodyPr>
          <a:lstStyle>
            <a:lvl1pPr algn="ctr">
              <a:lnSpc>
                <a:spcPct val="110000"/>
              </a:lnSpc>
              <a:defRPr sz="3200" b="0" i="0">
                <a:solidFill>
                  <a:schemeClr val="bg1"/>
                </a:solidFill>
                <a:latin typeface="National 2 Medium" charset="0"/>
                <a:ea typeface="National 2 Medium" charset="0"/>
                <a:cs typeface="National 2 Medium" charset="0"/>
              </a:defRPr>
            </a:lvl1pPr>
          </a:lstStyle>
          <a:p>
            <a:r>
              <a:rPr lang="en-US" dirty="0"/>
              <a:t>“[Quote text]”</a:t>
            </a:r>
            <a:endParaRPr lang="en-AU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321509" y="5848948"/>
            <a:ext cx="11546006" cy="216889"/>
          </a:xfrm>
        </p:spPr>
        <p:txBody>
          <a:bodyPr>
            <a:noAutofit/>
          </a:bodyPr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National 2 Medium" charset="0"/>
                <a:ea typeface="National 2 Medium" charset="0"/>
                <a:cs typeface="National 2 Medium" charset="0"/>
              </a:defRPr>
            </a:lvl1pPr>
          </a:lstStyle>
          <a:p>
            <a:pPr lvl="0"/>
            <a:r>
              <a:rPr lang="en-US" dirty="0"/>
              <a:t>[Full name]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661B98-F50D-413A-B3C3-7FED0F3F2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1686" y="6551473"/>
            <a:ext cx="523374" cy="217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4828162-76A4-4AEF-9328-B54FAF065B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029" y="6038901"/>
            <a:ext cx="11546006" cy="217125"/>
          </a:xfrm>
        </p:spPr>
        <p:txBody>
          <a:bodyPr>
            <a:noAutofit/>
          </a:bodyPr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[Position]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03E30FE-911C-4ADA-B031-2626594EC7A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0996" y="244059"/>
            <a:ext cx="1274064" cy="1386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A3744D0-0577-40DE-9622-1088015D058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963" y="246362"/>
            <a:ext cx="272301" cy="278483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2BB920-9A5A-4DA9-9ECA-1DF946B9A68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AU"/>
              <a:t>DevCouRSE – RESTful APIs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13586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A5B253F-6E57-4153-B4A9-E4A9AD7BE1DF}"/>
              </a:ext>
            </a:extLst>
          </p:cNvPr>
          <p:cNvSpPr/>
          <p:nvPr userDrawn="1"/>
        </p:nvSpPr>
        <p:spPr>
          <a:xfrm>
            <a:off x="3" y="0"/>
            <a:ext cx="12191999" cy="6858000"/>
          </a:xfrm>
          <a:prstGeom prst="rect">
            <a:avLst/>
          </a:prstGeom>
          <a:solidFill>
            <a:srgbClr val="C4DD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507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1509" y="1352808"/>
            <a:ext cx="11537524" cy="4417585"/>
          </a:xfrm>
        </p:spPr>
        <p:txBody>
          <a:bodyPr anchor="ctr">
            <a:noAutofit/>
          </a:bodyPr>
          <a:lstStyle>
            <a:lvl1pPr algn="ctr">
              <a:lnSpc>
                <a:spcPct val="110000"/>
              </a:lnSpc>
              <a:defRPr sz="3164" b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dirty="0"/>
              <a:t>“[Quote text]”</a:t>
            </a:r>
            <a:endParaRPr lang="en-AU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321509" y="5848948"/>
            <a:ext cx="11546006" cy="216889"/>
          </a:xfrm>
        </p:spPr>
        <p:txBody>
          <a:bodyPr>
            <a:noAutofit/>
          </a:bodyPr>
          <a:lstStyle>
            <a:lvl1pPr marL="0" indent="0" algn="ctr">
              <a:buNone/>
              <a:defRPr sz="1400" b="0" i="0">
                <a:solidFill>
                  <a:schemeClr val="accent1"/>
                </a:solidFill>
                <a:latin typeface="National 2 Medium" charset="0"/>
                <a:ea typeface="National 2 Medium" charset="0"/>
                <a:cs typeface="National 2 Medium" charset="0"/>
              </a:defRPr>
            </a:lvl1pPr>
          </a:lstStyle>
          <a:p>
            <a:pPr lvl="0"/>
            <a:r>
              <a:rPr lang="en-US" dirty="0"/>
              <a:t>[Full name]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02DA4E-EE8A-4DE3-A265-D45FF54BE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algn="ctr"/>
            <a:r>
              <a:rPr lang="en-AU"/>
              <a:t>DevCouRSE – RESTful APIs</a:t>
            </a:r>
            <a:endParaRPr lang="en-AU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661B98-F50D-413A-B3C3-7FED0F3F2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1686" y="6551473"/>
            <a:ext cx="523374" cy="217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4828162-76A4-4AEF-9328-B54FAF065B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3029" y="6038901"/>
            <a:ext cx="11546006" cy="217125"/>
          </a:xfrm>
        </p:spPr>
        <p:txBody>
          <a:bodyPr>
            <a:noAutofit/>
          </a:bodyPr>
          <a:lstStyle>
            <a:lvl1pPr marL="0" indent="0" algn="ctr">
              <a:buNone/>
              <a:defRPr sz="14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[Position]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5B8BFB0-2A25-45AC-80CE-669E6F62BC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80328" y="244059"/>
            <a:ext cx="1284732" cy="144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BF33D4B-5C12-45EC-88B7-C00C2123C83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963" y="246362"/>
            <a:ext cx="272301" cy="278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324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A5B253F-6E57-4153-B4A9-E4A9AD7BE1DF}"/>
              </a:ext>
            </a:extLst>
          </p:cNvPr>
          <p:cNvSpPr/>
          <p:nvPr userDrawn="1"/>
        </p:nvSpPr>
        <p:spPr>
          <a:xfrm>
            <a:off x="3" y="0"/>
            <a:ext cx="12191999" cy="6858000"/>
          </a:xfrm>
          <a:prstGeom prst="rect">
            <a:avLst/>
          </a:prstGeom>
          <a:solidFill>
            <a:srgbClr val="00693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507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171191" y="2246444"/>
            <a:ext cx="7849618" cy="2531891"/>
          </a:xfrm>
        </p:spPr>
        <p:txBody>
          <a:bodyPr anchor="ctr">
            <a:noAutofit/>
          </a:bodyPr>
          <a:lstStyle>
            <a:lvl1pPr algn="ctr">
              <a:lnSpc>
                <a:spcPct val="80000"/>
              </a:lnSpc>
              <a:defRPr sz="6118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[Thank you or sign off]</a:t>
            </a:r>
            <a:endParaRPr lang="en-AU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02DA4E-EE8A-4DE3-A265-D45FF54BE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ctr"/>
            <a:r>
              <a:rPr lang="en-AU"/>
              <a:t>DevCouRSE – RESTful APIs</a:t>
            </a:r>
            <a:endParaRPr lang="en-AU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661B98-F50D-413A-B3C3-7FED0F3F2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41686" y="6551473"/>
            <a:ext cx="523374" cy="217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1D5A8B4-6E78-422A-AF69-97326A6A7C3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0996" y="244059"/>
            <a:ext cx="1274064" cy="1386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6D54034-1F98-4E5C-A6EA-29A8353505A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963" y="246362"/>
            <a:ext cx="272301" cy="278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798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35673CE-2DC8-4BC7-8474-7FD9AEAE7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8B1A7F-3E6C-4BDA-A873-12B2FD961FC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ctr"/>
            <a:r>
              <a:rPr lang="en-AU"/>
              <a:t>DevCouRSE – RESTful APIs</a:t>
            </a:r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C0EA49-7B36-455E-A863-61CF191F594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341686" y="6551473"/>
            <a:ext cx="523374" cy="217125"/>
          </a:xfrm>
        </p:spPr>
        <p:txBody>
          <a:bodyPr/>
          <a:lstStyle/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EF0F960-7B3B-462A-AC2C-5591D208268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80328" y="244059"/>
            <a:ext cx="1284732" cy="1447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6EE6E5A-4BD9-4D77-8176-009D70AE84C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963" y="246362"/>
            <a:ext cx="272301" cy="278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704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12192000" cy="105273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800"/>
          </a:p>
        </p:txBody>
      </p:sp>
    </p:spTree>
    <p:extLst>
      <p:ext uri="{BB962C8B-B14F-4D97-AF65-F5344CB8AC3E}">
        <p14:creationId xmlns:p14="http://schemas.microsoft.com/office/powerpoint/2010/main" val="4041477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6425" y="1391440"/>
            <a:ext cx="11546007" cy="92350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1508" y="2365585"/>
            <a:ext cx="11546007" cy="413525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3047" y="184261"/>
            <a:ext cx="7425906" cy="217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100" b="0" i="0">
                <a:solidFill>
                  <a:schemeClr val="accent1"/>
                </a:solidFill>
                <a:latin typeface="National 2" charset="0"/>
                <a:ea typeface="National 2" charset="0"/>
                <a:cs typeface="National 2" charset="0"/>
              </a:defRPr>
            </a:lvl1pPr>
          </a:lstStyle>
          <a:p>
            <a:pPr algn="ctr"/>
            <a:r>
              <a:rPr lang="en-AU"/>
              <a:t>DevCouRSE – RESTful APIs</a:t>
            </a:r>
            <a:endParaRPr lang="en-AU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41686" y="6551473"/>
            <a:ext cx="523374" cy="217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84">
                <a:solidFill>
                  <a:schemeClr val="accent1"/>
                </a:solidFill>
              </a:defRPr>
            </a:lvl1pPr>
          </a:lstStyle>
          <a:p>
            <a:fld id="{E917DE0E-AFB1-41FD-BC35-27DB61CA125F}" type="slidenum">
              <a:rPr lang="en-AU" smtClean="0"/>
              <a:pPr/>
              <a:t>‹#›</a:t>
            </a:fld>
            <a:endParaRPr lang="en-A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A7EBB2-CF3F-A9BE-463B-B395F406C750}"/>
              </a:ext>
            </a:extLst>
          </p:cNvPr>
          <p:cNvSpPr txBox="1"/>
          <p:nvPr userDrawn="1"/>
        </p:nvSpPr>
        <p:spPr>
          <a:xfrm>
            <a:off x="3848100" y="6596390"/>
            <a:ext cx="4495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solidFill>
                  <a:schemeClr val="accent1"/>
                </a:solidFill>
                <a:latin typeface="National 2" panose="020B0504030502020203" pitchFamily="34" charset="77"/>
              </a:rPr>
              <a:t>https://</a:t>
            </a:r>
            <a:r>
              <a:rPr lang="en-US" sz="1100" dirty="0" err="1">
                <a:solidFill>
                  <a:schemeClr val="accent1"/>
                </a:solidFill>
                <a:latin typeface="National 2" panose="020B0504030502020203" pitchFamily="34" charset="77"/>
              </a:rPr>
              <a:t>dartgo.org</a:t>
            </a:r>
            <a:r>
              <a:rPr lang="en-US" sz="1100" dirty="0">
                <a:solidFill>
                  <a:schemeClr val="accent1"/>
                </a:solidFill>
                <a:latin typeface="National 2" panose="020B0504030502020203" pitchFamily="34" charset="77"/>
              </a:rPr>
              <a:t>/</a:t>
            </a:r>
            <a:r>
              <a:rPr lang="en-US" sz="1100" dirty="0" err="1">
                <a:solidFill>
                  <a:schemeClr val="accent1"/>
                </a:solidFill>
                <a:latin typeface="National 2" panose="020B0504030502020203" pitchFamily="34" charset="77"/>
              </a:rPr>
              <a:t>devcourse</a:t>
            </a:r>
            <a:r>
              <a:rPr lang="en-US" sz="1100" dirty="0">
                <a:solidFill>
                  <a:schemeClr val="accent1"/>
                </a:solidFill>
                <a:latin typeface="National 2" panose="020B0504030502020203" pitchFamily="34" charset="77"/>
              </a:rPr>
              <a:t>-restful-</a:t>
            </a:r>
            <a:r>
              <a:rPr lang="en-US" sz="1100" dirty="0" err="1">
                <a:solidFill>
                  <a:schemeClr val="accent1"/>
                </a:solidFill>
                <a:latin typeface="National 2" panose="020B0504030502020203" pitchFamily="34" charset="77"/>
              </a:rPr>
              <a:t>apis</a:t>
            </a:r>
            <a:r>
              <a:rPr lang="en-US" sz="1100" dirty="0">
                <a:solidFill>
                  <a:schemeClr val="accent1"/>
                </a:solidFill>
                <a:latin typeface="National 2" panose="020B0504030502020203" pitchFamily="34" charset="77"/>
              </a:rPr>
              <a:t>-</a:t>
            </a:r>
            <a:r>
              <a:rPr lang="en-US" sz="1100" dirty="0" err="1">
                <a:solidFill>
                  <a:schemeClr val="accent1"/>
                </a:solidFill>
                <a:latin typeface="National 2" panose="020B0504030502020203" pitchFamily="34" charset="77"/>
              </a:rPr>
              <a:t>handson</a:t>
            </a:r>
            <a:endParaRPr lang="en-US" sz="1100" dirty="0">
              <a:solidFill>
                <a:schemeClr val="accent1"/>
              </a:solidFill>
              <a:latin typeface="National 2" panose="020B0504030502020203" pitchFamily="34" charset="77"/>
            </a:endParaRPr>
          </a:p>
          <a:p>
            <a:pPr algn="ctr"/>
            <a:endParaRPr lang="en-US" sz="1100" dirty="0">
              <a:solidFill>
                <a:schemeClr val="accent1"/>
              </a:solidFill>
              <a:latin typeface="National 2" panose="020B050403050202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786833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2" r:id="rId2"/>
    <p:sldLayoutId id="2147483764" r:id="rId3"/>
    <p:sldLayoutId id="2147483765" r:id="rId4"/>
    <p:sldLayoutId id="2147483766" r:id="rId5"/>
    <p:sldLayoutId id="2147483650" r:id="rId6"/>
    <p:sldLayoutId id="2147483652" r:id="rId7"/>
    <p:sldLayoutId id="2147483779" r:id="rId8"/>
    <p:sldLayoutId id="2147483761" r:id="rId9"/>
    <p:sldLayoutId id="2147483767" r:id="rId10"/>
    <p:sldLayoutId id="2147483768" r:id="rId11"/>
    <p:sldLayoutId id="2147483769" r:id="rId12"/>
    <p:sldLayoutId id="2147483770" r:id="rId13"/>
    <p:sldLayoutId id="2147483782" r:id="rId14"/>
    <p:sldLayoutId id="2147483777" r:id="rId15"/>
    <p:sldLayoutId id="2147483778" r:id="rId16"/>
    <p:sldLayoutId id="2147483728" r:id="rId17"/>
    <p:sldLayoutId id="2147483773" r:id="rId18"/>
    <p:sldLayoutId id="2147483771" r:id="rId19"/>
    <p:sldLayoutId id="2147483772" r:id="rId20"/>
    <p:sldLayoutId id="2147483774" r:id="rId21"/>
    <p:sldLayoutId id="2147483776" r:id="rId22"/>
    <p:sldLayoutId id="2147483775" r:id="rId23"/>
    <p:sldLayoutId id="2147483780" r:id="rId24"/>
    <p:sldLayoutId id="2147483781" r:id="rId25"/>
    <p:sldLayoutId id="2147483783" r:id="rId26"/>
    <p:sldLayoutId id="2147483654" r:id="rId27"/>
    <p:sldLayoutId id="2147483655" r:id="rId2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642974" rtl="0" eaLnBrk="1" latinLnBrk="0" hangingPunct="1">
        <a:lnSpc>
          <a:spcPct val="85000"/>
        </a:lnSpc>
        <a:spcBef>
          <a:spcPct val="0"/>
        </a:spcBef>
        <a:buNone/>
        <a:defRPr sz="3200" b="0" i="0" kern="1200">
          <a:solidFill>
            <a:schemeClr val="accent1"/>
          </a:solidFill>
          <a:latin typeface="National 2 Medium" charset="0"/>
          <a:ea typeface="National 2 Medium" charset="0"/>
          <a:cs typeface="National 2 Medium" charset="0"/>
        </a:defRPr>
      </a:lvl1pPr>
    </p:titleStyle>
    <p:bodyStyle>
      <a:lvl1pPr marL="182880" indent="-228600" algn="l" defTabSz="642974" rtl="0" eaLnBrk="1" latinLnBrk="0" hangingPunct="1">
        <a:lnSpc>
          <a:spcPct val="120000"/>
        </a:lnSpc>
        <a:spcBef>
          <a:spcPts val="600"/>
        </a:spcBef>
        <a:spcAft>
          <a:spcPts val="600"/>
        </a:spcAft>
        <a:buClr>
          <a:schemeClr val="accent1"/>
        </a:buClr>
        <a:buFont typeface="Arial" charset="0"/>
        <a:buChar char="•"/>
        <a:defRPr sz="1600" b="0" i="0" kern="1200">
          <a:solidFill>
            <a:schemeClr val="accent1"/>
          </a:solidFill>
          <a:latin typeface="National 2" charset="0"/>
          <a:ea typeface="National 2" charset="0"/>
          <a:cs typeface="National 2" charset="0"/>
        </a:defRPr>
      </a:lvl1pPr>
      <a:lvl2pPr marL="640080" indent="-228600" algn="l" defTabSz="642974" rtl="0" eaLnBrk="1" latinLnBrk="0" hangingPunct="1">
        <a:lnSpc>
          <a:spcPct val="120000"/>
        </a:lnSpc>
        <a:spcBef>
          <a:spcPts val="600"/>
        </a:spcBef>
        <a:spcAft>
          <a:spcPts val="600"/>
        </a:spcAft>
        <a:buClr>
          <a:schemeClr val="accent1"/>
        </a:buClr>
        <a:buFont typeface="Arial" charset="0"/>
        <a:buChar char="•"/>
        <a:defRPr sz="1600" b="0" i="0" kern="1200">
          <a:solidFill>
            <a:schemeClr val="accent1"/>
          </a:solidFill>
          <a:latin typeface="National 2" charset="0"/>
          <a:ea typeface="National 2" charset="0"/>
          <a:cs typeface="National 2" charset="0"/>
        </a:defRPr>
      </a:lvl2pPr>
      <a:lvl3pPr marL="1097280" indent="-228600" algn="l" defTabSz="642974" rtl="0" eaLnBrk="1" latinLnBrk="0" hangingPunct="1">
        <a:lnSpc>
          <a:spcPct val="120000"/>
        </a:lnSpc>
        <a:spcBef>
          <a:spcPts val="600"/>
        </a:spcBef>
        <a:spcAft>
          <a:spcPts val="600"/>
        </a:spcAft>
        <a:buClr>
          <a:schemeClr val="accent1"/>
        </a:buClr>
        <a:buFont typeface="Arial" charset="0"/>
        <a:buChar char="•"/>
        <a:defRPr sz="1600" b="0" i="0" kern="1200">
          <a:solidFill>
            <a:schemeClr val="accent1"/>
          </a:solidFill>
          <a:latin typeface="National 2" charset="0"/>
          <a:ea typeface="National 2" charset="0"/>
          <a:cs typeface="National 2" charset="0"/>
        </a:defRPr>
      </a:lvl3pPr>
      <a:lvl4pPr marL="1554480" indent="-228600" algn="l" defTabSz="642974" rtl="0" eaLnBrk="1" latinLnBrk="0" hangingPunct="1">
        <a:lnSpc>
          <a:spcPct val="120000"/>
        </a:lnSpc>
        <a:spcBef>
          <a:spcPts val="600"/>
        </a:spcBef>
        <a:spcAft>
          <a:spcPts val="600"/>
        </a:spcAft>
        <a:buClr>
          <a:schemeClr val="accent1"/>
        </a:buClr>
        <a:buFont typeface="Arial" charset="0"/>
        <a:buChar char="•"/>
        <a:defRPr sz="1600" b="0" i="0" kern="1200" baseline="0">
          <a:solidFill>
            <a:schemeClr val="accent1"/>
          </a:solidFill>
          <a:latin typeface="National 2" charset="0"/>
          <a:ea typeface="National 2" charset="0"/>
          <a:cs typeface="National 2" charset="0"/>
        </a:defRPr>
      </a:lvl4pPr>
      <a:lvl5pPr marL="2011680" indent="-285750" algn="l" defTabSz="642974" rtl="0" eaLnBrk="1" latinLnBrk="0" hangingPunct="1">
        <a:spcBef>
          <a:spcPts val="422"/>
        </a:spcBef>
        <a:spcAft>
          <a:spcPts val="211"/>
        </a:spcAft>
        <a:buClr>
          <a:schemeClr val="accent1"/>
        </a:buClr>
        <a:buFont typeface="Arial" charset="0"/>
        <a:buChar char="•"/>
        <a:defRPr sz="1406" b="0" i="0" kern="1200" baseline="0">
          <a:solidFill>
            <a:schemeClr val="accent1"/>
          </a:solidFill>
          <a:latin typeface="National 2" charset="0"/>
          <a:ea typeface="National 2" charset="0"/>
          <a:cs typeface="National 2" charset="0"/>
        </a:defRPr>
      </a:lvl5pPr>
      <a:lvl6pPr marL="2468880" indent="-228600" algn="l" defTabSz="642974" rtl="0" eaLnBrk="1" latinLnBrk="0" hangingPunct="1">
        <a:lnSpc>
          <a:spcPct val="120000"/>
        </a:lnSpc>
        <a:spcBef>
          <a:spcPts val="600"/>
        </a:spcBef>
        <a:spcAft>
          <a:spcPts val="600"/>
        </a:spcAft>
        <a:buFont typeface="Arial" pitchFamily="34" charset="0"/>
        <a:buChar char="•"/>
        <a:defRPr sz="1406" kern="1200" baseline="0">
          <a:solidFill>
            <a:schemeClr val="accent1"/>
          </a:solidFill>
          <a:latin typeface="+mn-lt"/>
          <a:ea typeface="+mn-ea"/>
          <a:cs typeface="+mn-cs"/>
        </a:defRPr>
      </a:lvl6pPr>
      <a:lvl7pPr marL="2089666" indent="-160744" algn="l" defTabSz="642974" rtl="0" eaLnBrk="1" latinLnBrk="0" hangingPunct="1">
        <a:spcBef>
          <a:spcPct val="20000"/>
        </a:spcBef>
        <a:buFont typeface="Arial" pitchFamily="34" charset="0"/>
        <a:buChar char="•"/>
        <a:defRPr sz="1406" kern="1200">
          <a:solidFill>
            <a:schemeClr val="tx1"/>
          </a:solidFill>
          <a:latin typeface="+mn-lt"/>
          <a:ea typeface="+mn-ea"/>
          <a:cs typeface="+mn-cs"/>
        </a:defRPr>
      </a:lvl7pPr>
      <a:lvl8pPr marL="2411153" indent="-160744" algn="l" defTabSz="642974" rtl="0" eaLnBrk="1" latinLnBrk="0" hangingPunct="1">
        <a:spcBef>
          <a:spcPct val="20000"/>
        </a:spcBef>
        <a:buFont typeface="Arial" pitchFamily="34" charset="0"/>
        <a:buChar char="•"/>
        <a:defRPr sz="1406" kern="1200">
          <a:solidFill>
            <a:schemeClr val="tx1"/>
          </a:solidFill>
          <a:latin typeface="+mn-lt"/>
          <a:ea typeface="+mn-ea"/>
          <a:cs typeface="+mn-cs"/>
        </a:defRPr>
      </a:lvl8pPr>
      <a:lvl9pPr marL="2732640" indent="-160744" algn="l" defTabSz="642974" rtl="0" eaLnBrk="1" latinLnBrk="0" hangingPunct="1">
        <a:spcBef>
          <a:spcPct val="20000"/>
        </a:spcBef>
        <a:buFont typeface="Arial" pitchFamily="34" charset="0"/>
        <a:buChar char="•"/>
        <a:defRPr sz="14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42974" rtl="0" eaLnBrk="1" latinLnBrk="0" hangingPunct="1">
        <a:defRPr sz="1266" kern="1200">
          <a:solidFill>
            <a:schemeClr val="tx1"/>
          </a:solidFill>
          <a:latin typeface="+mn-lt"/>
          <a:ea typeface="+mn-ea"/>
          <a:cs typeface="+mn-cs"/>
        </a:defRPr>
      </a:lvl1pPr>
      <a:lvl2pPr marL="321487" algn="l" defTabSz="642974" rtl="0" eaLnBrk="1" latinLnBrk="0" hangingPunct="1">
        <a:defRPr sz="1266" kern="1200">
          <a:solidFill>
            <a:schemeClr val="tx1"/>
          </a:solidFill>
          <a:latin typeface="+mn-lt"/>
          <a:ea typeface="+mn-ea"/>
          <a:cs typeface="+mn-cs"/>
        </a:defRPr>
      </a:lvl2pPr>
      <a:lvl3pPr marL="642974" algn="l" defTabSz="642974" rtl="0" eaLnBrk="1" latinLnBrk="0" hangingPunct="1">
        <a:defRPr sz="1266" kern="1200">
          <a:solidFill>
            <a:schemeClr val="tx1"/>
          </a:solidFill>
          <a:latin typeface="+mn-lt"/>
          <a:ea typeface="+mn-ea"/>
          <a:cs typeface="+mn-cs"/>
        </a:defRPr>
      </a:lvl3pPr>
      <a:lvl4pPr marL="964461" algn="l" defTabSz="642974" rtl="0" eaLnBrk="1" latinLnBrk="0" hangingPunct="1">
        <a:defRPr sz="1266" kern="1200">
          <a:solidFill>
            <a:schemeClr val="tx1"/>
          </a:solidFill>
          <a:latin typeface="+mn-lt"/>
          <a:ea typeface="+mn-ea"/>
          <a:cs typeface="+mn-cs"/>
        </a:defRPr>
      </a:lvl4pPr>
      <a:lvl5pPr marL="1285948" algn="l" defTabSz="642974" rtl="0" eaLnBrk="1" latinLnBrk="0" hangingPunct="1">
        <a:defRPr sz="1266" kern="1200">
          <a:solidFill>
            <a:schemeClr val="tx1"/>
          </a:solidFill>
          <a:latin typeface="+mn-lt"/>
          <a:ea typeface="+mn-ea"/>
          <a:cs typeface="+mn-cs"/>
        </a:defRPr>
      </a:lvl5pPr>
      <a:lvl6pPr marL="1607435" algn="l" defTabSz="642974" rtl="0" eaLnBrk="1" latinLnBrk="0" hangingPunct="1">
        <a:defRPr sz="1266" kern="1200">
          <a:solidFill>
            <a:schemeClr val="tx1"/>
          </a:solidFill>
          <a:latin typeface="+mn-lt"/>
          <a:ea typeface="+mn-ea"/>
          <a:cs typeface="+mn-cs"/>
        </a:defRPr>
      </a:lvl6pPr>
      <a:lvl7pPr marL="1928923" algn="l" defTabSz="642974" rtl="0" eaLnBrk="1" latinLnBrk="0" hangingPunct="1">
        <a:defRPr sz="1266" kern="1200">
          <a:solidFill>
            <a:schemeClr val="tx1"/>
          </a:solidFill>
          <a:latin typeface="+mn-lt"/>
          <a:ea typeface="+mn-ea"/>
          <a:cs typeface="+mn-cs"/>
        </a:defRPr>
      </a:lvl7pPr>
      <a:lvl8pPr marL="2250409" algn="l" defTabSz="642974" rtl="0" eaLnBrk="1" latinLnBrk="0" hangingPunct="1">
        <a:defRPr sz="1266" kern="1200">
          <a:solidFill>
            <a:schemeClr val="tx1"/>
          </a:solidFill>
          <a:latin typeface="+mn-lt"/>
          <a:ea typeface="+mn-ea"/>
          <a:cs typeface="+mn-cs"/>
        </a:defRPr>
      </a:lvl8pPr>
      <a:lvl9pPr marL="2571896" algn="l" defTabSz="642974" rtl="0" eaLnBrk="1" latinLnBrk="0" hangingPunct="1">
        <a:defRPr sz="126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90" userDrawn="1">
          <p15:clr>
            <a:srgbClr val="F26B43"/>
          </p15:clr>
        </p15:guide>
        <p15:guide id="2" pos="7476" userDrawn="1">
          <p15:clr>
            <a:srgbClr val="F26B43"/>
          </p15:clr>
        </p15:guide>
        <p15:guide id="3" pos="203" userDrawn="1">
          <p15:clr>
            <a:srgbClr val="F26B43"/>
          </p15:clr>
        </p15:guide>
        <p15:guide id="4" orient="horz" pos="149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org&amp;utm_campaign=index&amp;utm_content=thumbnai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artmouth/devcourse-python-api-handson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035C01E-D909-40CC-85FF-D38BFFAA44E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AU" dirty="0"/>
              <a:t>2026-09-17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4FB0B02-7277-430E-84EF-813911035E5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1</a:t>
            </a:fld>
            <a:endParaRPr lang="en-AU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3F5BEDD-BBEA-445F-915D-71CD1037750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ctr"/>
            <a:r>
              <a:rPr lang="en-AU"/>
              <a:t>DevCouRSE – RESTful APIs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93358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321510" y="3429000"/>
            <a:ext cx="11543550" cy="1143000"/>
          </a:xfrm>
        </p:spPr>
        <p:txBody>
          <a:bodyPr/>
          <a:lstStyle/>
          <a:p>
            <a:r>
              <a:rPr lang="en-US" sz="5400" dirty="0">
                <a:latin typeface="National 2 Medium" panose="020B0504030502020203" pitchFamily="34" charset="77"/>
              </a:rPr>
              <a:t>Hands-on: RESTful APIs with Python</a:t>
            </a:r>
            <a:br>
              <a:rPr lang="en-US" sz="5400" dirty="0">
                <a:latin typeface="National 2 Medium" panose="020B0504030502020203" pitchFamily="34" charset="77"/>
              </a:rPr>
            </a:br>
            <a:r>
              <a:rPr lang="en-US" sz="4800" dirty="0">
                <a:solidFill>
                  <a:schemeClr val="accent6">
                    <a:lumMod val="75000"/>
                  </a:schemeClr>
                </a:solidFill>
                <a:latin typeface="National 2" panose="020B0504030502020203" pitchFamily="34" charset="77"/>
              </a:rPr>
              <a:t>A </a:t>
            </a:r>
            <a:r>
              <a:rPr lang="en-US" sz="4800" dirty="0" err="1">
                <a:solidFill>
                  <a:schemeClr val="accent6">
                    <a:lumMod val="75000"/>
                  </a:schemeClr>
                </a:solidFill>
                <a:latin typeface="National 2" panose="020B0504030502020203" pitchFamily="34" charset="77"/>
              </a:rPr>
              <a:t>DevCouRSE</a:t>
            </a:r>
            <a:r>
              <a:rPr lang="en-US" sz="4800" dirty="0">
                <a:solidFill>
                  <a:schemeClr val="accent6">
                    <a:lumMod val="75000"/>
                  </a:schemeClr>
                </a:solidFill>
                <a:latin typeface="National 2" panose="020B0504030502020203" pitchFamily="34" charset="77"/>
              </a:rPr>
              <a:t> Workshop</a:t>
            </a:r>
            <a:br>
              <a:rPr lang="en-US" sz="5400" b="1" dirty="0"/>
            </a:br>
            <a:br>
              <a:rPr lang="en-US" sz="2800" dirty="0">
                <a:latin typeface="National 2" panose="020B0504030502020203" pitchFamily="34" charset="77"/>
              </a:rPr>
            </a:br>
            <a:endParaRPr lang="en-AU" sz="5400" dirty="0">
              <a:latin typeface="National 2" panose="020B0504030502020203" pitchFamily="34" charset="77"/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321510" y="4953000"/>
            <a:ext cx="8176156" cy="1519166"/>
          </a:xfrm>
        </p:spPr>
        <p:txBody>
          <a:bodyPr>
            <a:normAutofit fontScale="70000" lnSpcReduction="20000"/>
          </a:bodyPr>
          <a:lstStyle/>
          <a:p>
            <a:r>
              <a:rPr lang="en-AU" dirty="0"/>
              <a:t>Tim Meehan, Simon Stone</a:t>
            </a:r>
          </a:p>
          <a:p>
            <a:r>
              <a:rPr lang="en-AU" i="1" dirty="0"/>
              <a:t>Research Computing @ ITC, Dartmouth College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BFAC0A-3611-47AD-9FCA-134C1587E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2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13791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560D5-5ED8-4E32-6BC8-DDB967F70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D696B41-382E-EC41-21AE-BBF3C8016F6C}"/>
              </a:ext>
            </a:extLst>
          </p:cNvPr>
          <p:cNvGraphicFramePr>
            <a:graphicFrameLocks noGrp="1"/>
          </p:cNvGraphicFramePr>
          <p:nvPr>
            <p:ph sz="quarter" idx="11"/>
          </p:nvPr>
        </p:nvGraphicFramePr>
        <p:xfrm>
          <a:off x="322263" y="2365374"/>
          <a:ext cx="11545884" cy="25876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6471">
                  <a:extLst>
                    <a:ext uri="{9D8B030D-6E8A-4147-A177-3AD203B41FA5}">
                      <a16:colId xmlns:a16="http://schemas.microsoft.com/office/drawing/2014/main" val="2260363726"/>
                    </a:ext>
                  </a:extLst>
                </a:gridCol>
                <a:gridCol w="2886471">
                  <a:extLst>
                    <a:ext uri="{9D8B030D-6E8A-4147-A177-3AD203B41FA5}">
                      <a16:colId xmlns:a16="http://schemas.microsoft.com/office/drawing/2014/main" val="400829278"/>
                    </a:ext>
                  </a:extLst>
                </a:gridCol>
                <a:gridCol w="2886471">
                  <a:extLst>
                    <a:ext uri="{9D8B030D-6E8A-4147-A177-3AD203B41FA5}">
                      <a16:colId xmlns:a16="http://schemas.microsoft.com/office/drawing/2014/main" val="3116573814"/>
                    </a:ext>
                  </a:extLst>
                </a:gridCol>
                <a:gridCol w="2886471">
                  <a:extLst>
                    <a:ext uri="{9D8B030D-6E8A-4147-A177-3AD203B41FA5}">
                      <a16:colId xmlns:a16="http://schemas.microsoft.com/office/drawing/2014/main" val="763995450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National 2" panose="020B0504030502020203" pitchFamily="34" charset="77"/>
                        </a:rPr>
                        <a:t>REST 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National 2" panose="020B0504030502020203" pitchFamily="34" charset="77"/>
                        </a:rPr>
                        <a:t>HTTP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National 2" panose="020B0504030502020203" pitchFamily="34" charset="77"/>
                        </a:rPr>
                        <a:t>Example Endpoint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National 2" panose="020B0504030502020203" pitchFamily="34" charset="77"/>
                        </a:rPr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2205012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National 2" panose="020B0504030502020203" pitchFamily="34" charset="77"/>
                        </a:rPr>
                        <a:t>Create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National 2" panose="020B0504030502020203" pitchFamily="34" charset="77"/>
                        </a:rPr>
                        <a:t>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National 2" panose="020B0504030502020203" pitchFamily="34" charset="77"/>
                        </a:rPr>
                        <a:t>/users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National 2" panose="020B0504030502020203" pitchFamily="34" charset="77"/>
                        </a:rPr>
                        <a:t>Create a new resource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1703136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National 2" panose="020B0504030502020203" pitchFamily="34" charset="77"/>
                        </a:rPr>
                        <a:t>Read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National 2" panose="020B0504030502020203" pitchFamily="34" charset="77"/>
                        </a:rPr>
                        <a:t>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National 2" panose="020B0504030502020203" pitchFamily="34" charset="77"/>
                        </a:rPr>
                        <a:t>/users/123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National 2" panose="020B0504030502020203" pitchFamily="34" charset="77"/>
                        </a:rPr>
                        <a:t>Retrieve specific resource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4591338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National 2" panose="020B0504030502020203" pitchFamily="34" charset="77"/>
                        </a:rPr>
                        <a:t>Update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National 2" panose="020B0504030502020203" pitchFamily="34" charset="77"/>
                        </a:rPr>
                        <a:t>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National 2" panose="020B0504030502020203" pitchFamily="34" charset="77"/>
                        </a:rPr>
                        <a:t>/users/123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National 2" panose="020B0504030502020203" pitchFamily="34" charset="77"/>
                        </a:rPr>
                        <a:t>Update specific resource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8879505"/>
                  </a:ext>
                </a:extLst>
              </a:tr>
              <a:tr h="517525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National 2" panose="020B0504030502020203" pitchFamily="34" charset="77"/>
                        </a:rPr>
                        <a:t>Delete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National 2" panose="020B0504030502020203" pitchFamily="34" charset="77"/>
                        </a:rPr>
                        <a:t>DELETE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National 2" panose="020B0504030502020203" pitchFamily="34" charset="77"/>
                        </a:rPr>
                        <a:t>/users/123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National 2" panose="020B0504030502020203" pitchFamily="34" charset="77"/>
                        </a:rPr>
                        <a:t>Remove specific resource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9365758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88BFF859-C2A3-E04A-1A58-DDB32A992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REST Actions &lt;-&gt; HTTP Methods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3D6CE0-9CF6-0234-8E81-C57A8433CEF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AU"/>
              <a:t>DevCouRSE – RESTful APIs</a:t>
            </a:r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AB0B48-E6A3-6312-E522-F231CDAEE19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3</a:t>
            </a:fld>
            <a:endParaRPr lang="en-AU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39F280F-C5B6-DD1F-DA1D-5381C36778C4}"/>
              </a:ext>
            </a:extLst>
          </p:cNvPr>
          <p:cNvGrpSpPr/>
          <p:nvPr/>
        </p:nvGrpSpPr>
        <p:grpSpPr>
          <a:xfrm>
            <a:off x="6655904" y="4800600"/>
            <a:ext cx="1172817" cy="1140479"/>
            <a:chOff x="6655904" y="4800600"/>
            <a:chExt cx="1172817" cy="1140479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2B0290FD-C72F-4EA4-C273-C949380A33D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55904" y="4800600"/>
              <a:ext cx="202096" cy="533400"/>
            </a:xfrm>
            <a:prstGeom prst="straightConnector1">
              <a:avLst/>
            </a:prstGeom>
            <a:ln w="38100"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FAA62756-2829-8583-E11D-830BA95E49BC}"/>
                </a:ext>
              </a:extLst>
            </p:cNvPr>
            <p:cNvSpPr/>
            <p:nvPr/>
          </p:nvSpPr>
          <p:spPr>
            <a:xfrm>
              <a:off x="6685721" y="5407679"/>
              <a:ext cx="1143000" cy="533400"/>
            </a:xfrm>
            <a:prstGeom prst="roundRect">
              <a:avLst/>
            </a:prstGeom>
            <a:solidFill>
              <a:schemeClr val="accent6"/>
            </a:solidFill>
            <a:ln>
              <a:solidFill>
                <a:schemeClr val="accent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accent1"/>
                  </a:solidFill>
                  <a:latin typeface="National 2" panose="020B0504030502020203" pitchFamily="34" charset="77"/>
                </a:rPr>
                <a:t>Nouns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6945DF5-3901-83CE-702D-5E2A53C36B3B}"/>
              </a:ext>
            </a:extLst>
          </p:cNvPr>
          <p:cNvGrpSpPr/>
          <p:nvPr/>
        </p:nvGrpSpPr>
        <p:grpSpPr>
          <a:xfrm>
            <a:off x="4038600" y="4789004"/>
            <a:ext cx="1176130" cy="1152075"/>
            <a:chOff x="4038600" y="4789004"/>
            <a:chExt cx="1176130" cy="1152075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1CFC10EB-1F37-0683-50B2-3586025FAEF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38600" y="4789004"/>
              <a:ext cx="202096" cy="533400"/>
            </a:xfrm>
            <a:prstGeom prst="straightConnector1">
              <a:avLst/>
            </a:prstGeom>
            <a:ln w="38100"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3B3B9806-C997-0FF8-D24E-A807E1736EBD}"/>
                </a:ext>
              </a:extLst>
            </p:cNvPr>
            <p:cNvSpPr/>
            <p:nvPr/>
          </p:nvSpPr>
          <p:spPr>
            <a:xfrm>
              <a:off x="4071730" y="5407679"/>
              <a:ext cx="1143000" cy="533400"/>
            </a:xfrm>
            <a:prstGeom prst="roundRect">
              <a:avLst/>
            </a:prstGeom>
            <a:solidFill>
              <a:schemeClr val="accent6"/>
            </a:solidFill>
            <a:ln>
              <a:solidFill>
                <a:schemeClr val="accent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accent1"/>
                  </a:solidFill>
                  <a:latin typeface="National 2" panose="020B0504030502020203" pitchFamily="34" charset="77"/>
                </a:rPr>
                <a:t>Verbs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75869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650D2-F7EE-64C5-53C9-C4AA4DD1F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FA14F38-BC18-7B70-E205-738479C93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Life-cycle of a typical backend API request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698AF7-319A-7B83-3030-C1D91FC19D6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AU"/>
              <a:t>DevCouRSE – RESTful APIs</a:t>
            </a:r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B4A703-A336-65B7-5CE1-0A5BB44BB99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4</a:t>
            </a:fld>
            <a:endParaRPr lang="en-AU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D52BAB1-7139-4074-8A98-EFFF7C9E4E2E}"/>
              </a:ext>
            </a:extLst>
          </p:cNvPr>
          <p:cNvGrpSpPr/>
          <p:nvPr/>
        </p:nvGrpSpPr>
        <p:grpSpPr>
          <a:xfrm>
            <a:off x="297641" y="2895600"/>
            <a:ext cx="1574647" cy="1273845"/>
            <a:chOff x="383078" y="2895600"/>
            <a:chExt cx="1574647" cy="1273845"/>
          </a:xfrm>
        </p:grpSpPr>
        <p:sp>
          <p:nvSpPr>
            <p:cNvPr id="6" name="Rounded Rectangular Callout 5">
              <a:extLst>
                <a:ext uri="{FF2B5EF4-FFF2-40B4-BE49-F238E27FC236}">
                  <a16:creationId xmlns:a16="http://schemas.microsoft.com/office/drawing/2014/main" id="{6D24FF07-BCB8-285E-E87E-0406829CDC39}"/>
                </a:ext>
              </a:extLst>
            </p:cNvPr>
            <p:cNvSpPr/>
            <p:nvPr/>
          </p:nvSpPr>
          <p:spPr>
            <a:xfrm>
              <a:off x="827501" y="2895600"/>
              <a:ext cx="685800" cy="553240"/>
            </a:xfrm>
            <a:prstGeom prst="wedgeRoundRectCallout">
              <a:avLst>
                <a:gd name="adj1" fmla="val -44311"/>
                <a:gd name="adj2" fmla="val 81341"/>
                <a:gd name="adj3" fmla="val 16667"/>
              </a:avLst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accent1"/>
                  </a:solidFill>
                  <a:latin typeface="National 2" panose="020B0504030502020203" pitchFamily="34" charset="77"/>
                </a:rPr>
                <a:t>?</a:t>
              </a: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BDB9054E-C800-1FA8-1C0A-BCFE9DA4962C}"/>
                </a:ext>
              </a:extLst>
            </p:cNvPr>
            <p:cNvSpPr/>
            <p:nvPr/>
          </p:nvSpPr>
          <p:spPr>
            <a:xfrm>
              <a:off x="383078" y="3694926"/>
              <a:ext cx="1574647" cy="474519"/>
            </a:xfrm>
            <a:prstGeom prst="roundRect">
              <a:avLst/>
            </a:prstGeom>
            <a:solidFill>
              <a:schemeClr val="accent6"/>
            </a:solidFill>
            <a:ln>
              <a:solidFill>
                <a:schemeClr val="accent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accent1"/>
                  </a:solidFill>
                  <a:latin typeface="National 2" panose="020B0504030502020203" pitchFamily="34" charset="77"/>
                </a:rPr>
                <a:t>Request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A4CD995-00DE-3612-479A-3FC7B60E2F6E}"/>
              </a:ext>
            </a:extLst>
          </p:cNvPr>
          <p:cNvGrpSpPr/>
          <p:nvPr/>
        </p:nvGrpSpPr>
        <p:grpSpPr>
          <a:xfrm>
            <a:off x="10518860" y="2895600"/>
            <a:ext cx="1271549" cy="1257280"/>
            <a:chOff x="10518860" y="2895600"/>
            <a:chExt cx="1271549" cy="1257280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AB010D1E-6F79-5173-DA08-3CF539784A89}"/>
                </a:ext>
              </a:extLst>
            </p:cNvPr>
            <p:cNvSpPr/>
            <p:nvPr/>
          </p:nvSpPr>
          <p:spPr>
            <a:xfrm>
              <a:off x="10518860" y="3678361"/>
              <a:ext cx="1271549" cy="474519"/>
            </a:xfrm>
            <a:prstGeom prst="roundRect">
              <a:avLst/>
            </a:prstGeom>
            <a:solidFill>
              <a:schemeClr val="accent6"/>
            </a:solidFill>
            <a:ln>
              <a:solidFill>
                <a:schemeClr val="accent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accent1"/>
                  </a:solidFill>
                  <a:latin typeface="National 2" panose="020B0504030502020203" pitchFamily="34" charset="77"/>
                </a:rPr>
                <a:t>Response</a:t>
              </a:r>
            </a:p>
          </p:txBody>
        </p:sp>
        <p:sp>
          <p:nvSpPr>
            <p:cNvPr id="15" name="Rounded Rectangular Callout 14">
              <a:extLst>
                <a:ext uri="{FF2B5EF4-FFF2-40B4-BE49-F238E27FC236}">
                  <a16:creationId xmlns:a16="http://schemas.microsoft.com/office/drawing/2014/main" id="{F2E36F8C-4C0D-4719-D33D-68DAE11996C7}"/>
                </a:ext>
              </a:extLst>
            </p:cNvPr>
            <p:cNvSpPr/>
            <p:nvPr/>
          </p:nvSpPr>
          <p:spPr>
            <a:xfrm flipH="1">
              <a:off x="10811734" y="2895600"/>
              <a:ext cx="685800" cy="553240"/>
            </a:xfrm>
            <a:prstGeom prst="wedgeRoundRectCallout">
              <a:avLst>
                <a:gd name="adj1" fmla="val -44311"/>
                <a:gd name="adj2" fmla="val 81341"/>
                <a:gd name="adj3" fmla="val 16667"/>
              </a:avLst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accent1"/>
                  </a:solidFill>
                  <a:latin typeface="National 2" panose="020B0504030502020203" pitchFamily="34" charset="77"/>
                </a:rPr>
                <a:t>!</a:t>
              </a:r>
            </a:p>
          </p:txBody>
        </p:sp>
      </p:grpSp>
      <p:pic>
        <p:nvPicPr>
          <p:cNvPr id="16" name="Content Placeholder 9" descr="Database with solid fill">
            <a:extLst>
              <a:ext uri="{FF2B5EF4-FFF2-40B4-BE49-F238E27FC236}">
                <a16:creationId xmlns:a16="http://schemas.microsoft.com/office/drawing/2014/main" id="{CDD2DA19-467D-31CE-13FA-1551F244BD1B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56404" y="4689344"/>
            <a:ext cx="923505" cy="923505"/>
          </a:xfrm>
        </p:spPr>
      </p:pic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CBB03A5-01C5-EECF-A994-A49594F95B6A}"/>
              </a:ext>
            </a:extLst>
          </p:cNvPr>
          <p:cNvSpPr/>
          <p:nvPr/>
        </p:nvSpPr>
        <p:spPr>
          <a:xfrm>
            <a:off x="9256062" y="5375590"/>
            <a:ext cx="1271549" cy="474519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1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accent1"/>
                </a:solidFill>
                <a:latin typeface="National 2" panose="020B0504030502020203" pitchFamily="34" charset="77"/>
              </a:rPr>
              <a:t>Database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221F9D39-E979-2688-7024-948899CD0BC6}"/>
              </a:ext>
            </a:extLst>
          </p:cNvPr>
          <p:cNvGrpSpPr/>
          <p:nvPr/>
        </p:nvGrpSpPr>
        <p:grpSpPr>
          <a:xfrm>
            <a:off x="2164969" y="2630679"/>
            <a:ext cx="1198353" cy="1538765"/>
            <a:chOff x="2298845" y="2630679"/>
            <a:chExt cx="1198353" cy="1538765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68019C77-0469-554A-5A68-68CCA56F4E8E}"/>
                </a:ext>
              </a:extLst>
            </p:cNvPr>
            <p:cNvSpPr/>
            <p:nvPr/>
          </p:nvSpPr>
          <p:spPr>
            <a:xfrm>
              <a:off x="2298845" y="3694925"/>
              <a:ext cx="1198353" cy="474519"/>
            </a:xfrm>
            <a:prstGeom prst="roundRect">
              <a:avLst/>
            </a:prstGeom>
            <a:solidFill>
              <a:schemeClr val="accent6"/>
            </a:solidFill>
            <a:ln>
              <a:solidFill>
                <a:schemeClr val="accent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accent1"/>
                  </a:solidFill>
                  <a:latin typeface="National 2" panose="020B0504030502020203" pitchFamily="34" charset="77"/>
                </a:rPr>
                <a:t>Router</a:t>
              </a:r>
            </a:p>
          </p:txBody>
        </p: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E2C7D825-7F52-25C7-4F74-8542AC03DED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2413144" y="2630679"/>
              <a:ext cx="969754" cy="969754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A5D34B8-5599-50E2-7CFF-A2E2CF81984B}"/>
              </a:ext>
            </a:extLst>
          </p:cNvPr>
          <p:cNvGrpSpPr/>
          <p:nvPr/>
        </p:nvGrpSpPr>
        <p:grpSpPr>
          <a:xfrm>
            <a:off x="3656003" y="2630679"/>
            <a:ext cx="1454631" cy="1538764"/>
            <a:chOff x="3660342" y="2630679"/>
            <a:chExt cx="1454631" cy="1538764"/>
          </a:xfrm>
        </p:grpSpPr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F4D91909-EA85-676B-DF0C-2A17FCAB0EF8}"/>
                </a:ext>
              </a:extLst>
            </p:cNvPr>
            <p:cNvSpPr/>
            <p:nvPr/>
          </p:nvSpPr>
          <p:spPr>
            <a:xfrm>
              <a:off x="3788481" y="3694924"/>
              <a:ext cx="1198353" cy="474519"/>
            </a:xfrm>
            <a:prstGeom prst="roundRect">
              <a:avLst/>
            </a:prstGeom>
            <a:solidFill>
              <a:schemeClr val="accent6"/>
            </a:solidFill>
            <a:ln>
              <a:solidFill>
                <a:schemeClr val="accent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accent1"/>
                  </a:solidFill>
                  <a:latin typeface="National 2" panose="020B0504030502020203" pitchFamily="34" charset="77"/>
                </a:rPr>
                <a:t>Schema</a:t>
              </a:r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298A41E5-1807-1D10-BCB8-7EB5249E5C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60342" y="2630679"/>
              <a:ext cx="1454631" cy="969754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30F290A-3386-9903-17EA-A55BAC4A3DBE}"/>
              </a:ext>
            </a:extLst>
          </p:cNvPr>
          <p:cNvGrpSpPr/>
          <p:nvPr/>
        </p:nvGrpSpPr>
        <p:grpSpPr>
          <a:xfrm>
            <a:off x="5434051" y="2588331"/>
            <a:ext cx="1271549" cy="1581112"/>
            <a:chOff x="5520556" y="2588331"/>
            <a:chExt cx="1271549" cy="1581112"/>
          </a:xfrm>
        </p:grpSpPr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88C966D6-2F3A-6B75-619A-AF9A470C4404}"/>
                </a:ext>
              </a:extLst>
            </p:cNvPr>
            <p:cNvSpPr/>
            <p:nvPr/>
          </p:nvSpPr>
          <p:spPr>
            <a:xfrm>
              <a:off x="5520556" y="3694924"/>
              <a:ext cx="1271549" cy="474519"/>
            </a:xfrm>
            <a:prstGeom prst="roundRect">
              <a:avLst/>
            </a:prstGeom>
            <a:solidFill>
              <a:schemeClr val="accent6"/>
            </a:solidFill>
            <a:ln>
              <a:solidFill>
                <a:schemeClr val="accent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accent1"/>
                  </a:solidFill>
                  <a:latin typeface="National 2" panose="020B0504030502020203" pitchFamily="34" charset="77"/>
                </a:rPr>
                <a:t>Controller</a:t>
              </a: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16D2BA31-549D-1DB7-653F-E433CAA5CAA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5751345" y="2588331"/>
              <a:ext cx="809971" cy="1012102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C467F39-2D08-A6D9-7FAC-C52A7853BE25}"/>
              </a:ext>
            </a:extLst>
          </p:cNvPr>
          <p:cNvGrpSpPr/>
          <p:nvPr/>
        </p:nvGrpSpPr>
        <p:grpSpPr>
          <a:xfrm>
            <a:off x="7110451" y="2588331"/>
            <a:ext cx="1271549" cy="1571175"/>
            <a:chOff x="7090853" y="2588331"/>
            <a:chExt cx="1271549" cy="1571175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DF8AC715-2021-EA3B-EFFD-67193A363B5E}"/>
                </a:ext>
              </a:extLst>
            </p:cNvPr>
            <p:cNvSpPr/>
            <p:nvPr/>
          </p:nvSpPr>
          <p:spPr>
            <a:xfrm>
              <a:off x="7090853" y="3684987"/>
              <a:ext cx="1271549" cy="474519"/>
            </a:xfrm>
            <a:prstGeom prst="roundRect">
              <a:avLst/>
            </a:prstGeom>
            <a:solidFill>
              <a:schemeClr val="accent6"/>
            </a:solidFill>
            <a:ln>
              <a:solidFill>
                <a:schemeClr val="accent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accent1"/>
                  </a:solidFill>
                  <a:latin typeface="National 2" panose="020B0504030502020203" pitchFamily="34" charset="77"/>
                </a:rPr>
                <a:t>Service</a:t>
              </a: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FE28727F-C134-8DE1-92EA-D3EC7D84007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7220576" y="2588331"/>
              <a:ext cx="1012102" cy="1012102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A60AD02-8C31-C2D6-69BB-EC2BF712F5DC}"/>
              </a:ext>
            </a:extLst>
          </p:cNvPr>
          <p:cNvGrpSpPr/>
          <p:nvPr/>
        </p:nvGrpSpPr>
        <p:grpSpPr>
          <a:xfrm>
            <a:off x="8708026" y="2588332"/>
            <a:ext cx="1518151" cy="1571174"/>
            <a:chOff x="8768414" y="2588332"/>
            <a:chExt cx="1518151" cy="1571174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5C7DF786-54C0-F8F6-CEB7-88BD21BDFD3F}"/>
                </a:ext>
              </a:extLst>
            </p:cNvPr>
            <p:cNvSpPr/>
            <p:nvPr/>
          </p:nvSpPr>
          <p:spPr>
            <a:xfrm>
              <a:off x="8891715" y="3684987"/>
              <a:ext cx="1271549" cy="474519"/>
            </a:xfrm>
            <a:prstGeom prst="roundRect">
              <a:avLst/>
            </a:prstGeom>
            <a:solidFill>
              <a:schemeClr val="accent6"/>
            </a:solidFill>
            <a:ln>
              <a:solidFill>
                <a:schemeClr val="accent1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accent1"/>
                  </a:solidFill>
                  <a:latin typeface="National 2" panose="020B0504030502020203" pitchFamily="34" charset="77"/>
                </a:rPr>
                <a:t>Model</a:t>
              </a:r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47446A86-6F01-BEAF-6E97-7942F6C497A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8768414" y="2588332"/>
              <a:ext cx="1518151" cy="1012101"/>
            </a:xfrm>
            <a:prstGeom prst="rect">
              <a:avLst/>
            </a:prstGeom>
            <a:ln>
              <a:solidFill>
                <a:schemeClr val="accent1"/>
              </a:solidFill>
            </a:ln>
          </p:spPr>
        </p:pic>
      </p:grpSp>
      <p:sp>
        <p:nvSpPr>
          <p:cNvPr id="29" name="Right Arrow 28">
            <a:extLst>
              <a:ext uri="{FF2B5EF4-FFF2-40B4-BE49-F238E27FC236}">
                <a16:creationId xmlns:a16="http://schemas.microsoft.com/office/drawing/2014/main" id="{C94F7910-E9C5-7D8C-DEA4-8D2A7088A356}"/>
              </a:ext>
            </a:extLst>
          </p:cNvPr>
          <p:cNvSpPr/>
          <p:nvPr/>
        </p:nvSpPr>
        <p:spPr>
          <a:xfrm>
            <a:off x="1783969" y="3033154"/>
            <a:ext cx="381000" cy="25678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ight Arrow 29">
            <a:extLst>
              <a:ext uri="{FF2B5EF4-FFF2-40B4-BE49-F238E27FC236}">
                <a16:creationId xmlns:a16="http://schemas.microsoft.com/office/drawing/2014/main" id="{564AF749-6E30-75FA-BD64-12E0F63193DD}"/>
              </a:ext>
            </a:extLst>
          </p:cNvPr>
          <p:cNvSpPr/>
          <p:nvPr/>
        </p:nvSpPr>
        <p:spPr>
          <a:xfrm>
            <a:off x="3305066" y="3033154"/>
            <a:ext cx="297990" cy="25678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Arrow 30">
            <a:extLst>
              <a:ext uri="{FF2B5EF4-FFF2-40B4-BE49-F238E27FC236}">
                <a16:creationId xmlns:a16="http://schemas.microsoft.com/office/drawing/2014/main" id="{9D878C7C-B845-F9C7-D00C-B0B54F3E4401}"/>
              </a:ext>
            </a:extLst>
          </p:cNvPr>
          <p:cNvSpPr/>
          <p:nvPr/>
        </p:nvSpPr>
        <p:spPr>
          <a:xfrm>
            <a:off x="5210138" y="3033154"/>
            <a:ext cx="352462" cy="25678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ight Arrow 31">
            <a:extLst>
              <a:ext uri="{FF2B5EF4-FFF2-40B4-BE49-F238E27FC236}">
                <a16:creationId xmlns:a16="http://schemas.microsoft.com/office/drawing/2014/main" id="{FC189082-CFF9-EBCE-822B-AF03D62CE659}"/>
              </a:ext>
            </a:extLst>
          </p:cNvPr>
          <p:cNvSpPr/>
          <p:nvPr/>
        </p:nvSpPr>
        <p:spPr>
          <a:xfrm>
            <a:off x="6631658" y="3033154"/>
            <a:ext cx="488635" cy="25678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DFEE59C0-C7CE-1349-1531-F090AF4AF8FE}"/>
              </a:ext>
            </a:extLst>
          </p:cNvPr>
          <p:cNvSpPr/>
          <p:nvPr/>
        </p:nvSpPr>
        <p:spPr>
          <a:xfrm>
            <a:off x="10326677" y="3033154"/>
            <a:ext cx="341323" cy="25678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ight Arrow 33">
            <a:extLst>
              <a:ext uri="{FF2B5EF4-FFF2-40B4-BE49-F238E27FC236}">
                <a16:creationId xmlns:a16="http://schemas.microsoft.com/office/drawing/2014/main" id="{E4385B7F-3DA2-8DAB-5E9C-34AA45302022}"/>
              </a:ext>
            </a:extLst>
          </p:cNvPr>
          <p:cNvSpPr/>
          <p:nvPr/>
        </p:nvSpPr>
        <p:spPr>
          <a:xfrm>
            <a:off x="8440909" y="3033154"/>
            <a:ext cx="241553" cy="25678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Left-Right Arrow 35">
            <a:extLst>
              <a:ext uri="{FF2B5EF4-FFF2-40B4-BE49-F238E27FC236}">
                <a16:creationId xmlns:a16="http://schemas.microsoft.com/office/drawing/2014/main" id="{298E71D9-8D1B-DB34-B801-2069C3460358}"/>
              </a:ext>
            </a:extLst>
          </p:cNvPr>
          <p:cNvSpPr/>
          <p:nvPr/>
        </p:nvSpPr>
        <p:spPr>
          <a:xfrm rot="16200000">
            <a:off x="9176511" y="4333305"/>
            <a:ext cx="483291" cy="304800"/>
          </a:xfrm>
          <a:prstGeom prst="left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251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4DDB33E-DB0A-06D7-B778-D0D01BB6ED7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21509" y="2365638"/>
            <a:ext cx="5622092" cy="4127303"/>
          </a:xfrm>
        </p:spPr>
        <p:txBody>
          <a:bodyPr anchor="t">
            <a:normAutofit fontScale="92500" lnSpcReduction="20000"/>
          </a:bodyPr>
          <a:lstStyle/>
          <a:p>
            <a:pPr marL="461962" indent="-457200">
              <a:buSzPct val="80000"/>
              <a:buFont typeface="System Font Regular"/>
              <a:buChar char="📍"/>
            </a:pPr>
            <a:r>
              <a:rPr lang="en-US" dirty="0">
                <a:latin typeface="National 2" panose="020B0504030502020203" pitchFamily="34" charset="77"/>
              </a:rPr>
              <a:t>An API to manage a directory of places of interest at Dartmouth</a:t>
            </a:r>
          </a:p>
          <a:p>
            <a:pPr marL="461962" indent="-457200">
              <a:buSzPct val="80000"/>
              <a:buFont typeface="System Font Regular"/>
              <a:buChar char="🌎"/>
            </a:pPr>
            <a:r>
              <a:rPr lang="en-US" dirty="0">
                <a:latin typeface="National 2" panose="020B0504030502020203" pitchFamily="34" charset="77"/>
              </a:rPr>
              <a:t>List all Places</a:t>
            </a:r>
          </a:p>
          <a:p>
            <a:pPr marL="461962" indent="-457200">
              <a:buSzPct val="80000"/>
              <a:buFont typeface="System Font Regular"/>
              <a:buChar char="🔎"/>
            </a:pPr>
            <a:r>
              <a:rPr lang="en-US" dirty="0">
                <a:latin typeface="National 2" panose="020B0504030502020203" pitchFamily="34" charset="77"/>
              </a:rPr>
              <a:t>List a specific Place</a:t>
            </a:r>
          </a:p>
          <a:p>
            <a:pPr marL="461962" indent="-457200">
              <a:buSzPct val="80000"/>
              <a:buFont typeface="System Font Regular"/>
              <a:buChar char="✨"/>
            </a:pPr>
            <a:r>
              <a:rPr lang="en-US" dirty="0">
                <a:latin typeface="National 2" panose="020B0504030502020203" pitchFamily="34" charset="77"/>
              </a:rPr>
              <a:t>Create a Place</a:t>
            </a:r>
          </a:p>
          <a:p>
            <a:pPr marL="461962" indent="-457200">
              <a:buSzPct val="80000"/>
              <a:buFont typeface="System Font Regular"/>
              <a:buChar char="🔄"/>
            </a:pPr>
            <a:r>
              <a:rPr lang="en-US" dirty="0">
                <a:latin typeface="National 2" panose="020B0504030502020203" pitchFamily="34" charset="77"/>
              </a:rPr>
              <a:t>Update a Place</a:t>
            </a:r>
          </a:p>
          <a:p>
            <a:pPr marL="461962" indent="-457200">
              <a:buSzPct val="80000"/>
              <a:buFont typeface="System Font Regular"/>
              <a:buChar char="🗑️"/>
            </a:pPr>
            <a:r>
              <a:rPr lang="en-US" dirty="0">
                <a:latin typeface="National 2" panose="020B0504030502020203" pitchFamily="34" charset="77"/>
              </a:rPr>
              <a:t>Delete a Place</a:t>
            </a:r>
          </a:p>
          <a:p>
            <a:pPr marL="461962" indent="-457200">
              <a:buSzPct val="80000"/>
              <a:buFont typeface="System Font Regular"/>
              <a:buChar char="🔒"/>
            </a:pPr>
            <a:r>
              <a:rPr lang="en-US" dirty="0">
                <a:latin typeface="National 2" panose="020B0504030502020203" pitchFamily="34" charset="77"/>
              </a:rPr>
              <a:t>Only allow authenticated access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6C3D70B-F697-CE72-CC1A-0129AD1DD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Today’s Project: </a:t>
            </a:r>
            <a:br>
              <a:rPr lang="en-US" dirty="0"/>
            </a:br>
            <a:r>
              <a:rPr lang="en-US" dirty="0"/>
              <a:t>Dartmouth Places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D73267-12C3-5AF1-40CD-D6E195026C3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AU" dirty="0" err="1"/>
              <a:t>DevCouRSE</a:t>
            </a:r>
            <a:r>
              <a:rPr lang="en-AU" dirty="0"/>
              <a:t> – RESTful APIs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CD214A-B78A-621F-824E-1B58D4E120F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5</a:t>
            </a:fld>
            <a:endParaRPr lang="en-AU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557029A-C5AD-8255-2866-8929B7583644}"/>
              </a:ext>
            </a:extLst>
          </p:cNvPr>
          <p:cNvGrpSpPr/>
          <p:nvPr/>
        </p:nvGrpSpPr>
        <p:grpSpPr>
          <a:xfrm>
            <a:off x="7391400" y="1524000"/>
            <a:ext cx="2971800" cy="4511741"/>
            <a:chOff x="7315200" y="1981199"/>
            <a:chExt cx="2971800" cy="4511741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5CCD495F-845C-50A8-B548-B60F07C6FDF8}"/>
                </a:ext>
              </a:extLst>
            </p:cNvPr>
            <p:cNvSpPr/>
            <p:nvPr/>
          </p:nvSpPr>
          <p:spPr>
            <a:xfrm>
              <a:off x="7315200" y="1981199"/>
              <a:ext cx="2971800" cy="4511741"/>
            </a:xfrm>
            <a:prstGeom prst="roundRect">
              <a:avLst>
                <a:gd name="adj" fmla="val 3949"/>
              </a:avLst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10000"/>
                </a:lnSpc>
              </a:pPr>
              <a:endParaRPr lang="en-US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  <a:p>
              <a:pPr>
                <a:lnSpc>
                  <a:spcPct val="110000"/>
                </a:lnSpc>
              </a:pPr>
              <a:endParaRPr lang="en-US" dirty="0">
                <a:solidFill>
                  <a:schemeClr val="tx1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endParaRPr>
            </a:p>
            <a:p>
              <a:pPr>
                <a:lnSpc>
                  <a:spcPct val="110000"/>
                </a:lnSpc>
              </a:pPr>
              <a:r>
                <a:rPr lang="en-US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Name</a:t>
              </a:r>
            </a:p>
            <a:p>
              <a:pPr>
                <a:lnSpc>
                  <a:spcPct val="110000"/>
                </a:lnSpc>
              </a:pPr>
              <a:r>
                <a:rPr lang="en-US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Location</a:t>
              </a:r>
            </a:p>
            <a:p>
              <a:pPr>
                <a:lnSpc>
                  <a:spcPct val="110000"/>
                </a:lnSpc>
              </a:pPr>
              <a:r>
                <a:rPr lang="en-US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Description</a:t>
              </a:r>
            </a:p>
            <a:p>
              <a:pPr>
                <a:lnSpc>
                  <a:spcPct val="110000"/>
                </a:lnSpc>
              </a:pPr>
              <a:r>
                <a:rPr lang="en-US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Category</a:t>
              </a:r>
            </a:p>
            <a:p>
              <a:pPr>
                <a:lnSpc>
                  <a:spcPct val="110000"/>
                </a:lnSpc>
              </a:pPr>
              <a:r>
                <a:rPr lang="en-US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Noise Level</a:t>
              </a:r>
            </a:p>
            <a:p>
              <a:pPr>
                <a:lnSpc>
                  <a:spcPct val="110000"/>
                </a:lnSpc>
              </a:pPr>
              <a:r>
                <a:rPr lang="en-US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Outlets?</a:t>
              </a:r>
            </a:p>
            <a:p>
              <a:pPr>
                <a:lnSpc>
                  <a:spcPct val="110000"/>
                </a:lnSpc>
              </a:pPr>
              <a:r>
                <a:rPr lang="en-US" dirty="0" err="1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WiFi</a:t>
              </a:r>
              <a:r>
                <a:rPr lang="en-US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?</a:t>
              </a:r>
            </a:p>
            <a:p>
              <a:pPr>
                <a:lnSpc>
                  <a:spcPct val="110000"/>
                </a:lnSpc>
              </a:pPr>
              <a:r>
                <a:rPr lang="en-US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Capacity</a:t>
              </a:r>
            </a:p>
            <a:p>
              <a:pPr>
                <a:lnSpc>
                  <a:spcPct val="110000"/>
                </a:lnSpc>
              </a:pPr>
              <a:r>
                <a:rPr lang="en-US" dirty="0">
                  <a:solidFill>
                    <a:schemeClr val="tx1"/>
                  </a:solidFill>
                  <a:latin typeface="Menlo" panose="020B0609030804020204" pitchFamily="49" charset="0"/>
                  <a:ea typeface="Menlo" panose="020B0609030804020204" pitchFamily="49" charset="0"/>
                  <a:cs typeface="Menlo" panose="020B0609030804020204" pitchFamily="49" charset="0"/>
                </a:rPr>
                <a:t>Public?</a:t>
              </a:r>
            </a:p>
          </p:txBody>
        </p: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4072A957-713D-37B4-BB4B-ADC5CCD9DC4D}"/>
                </a:ext>
              </a:extLst>
            </p:cNvPr>
            <p:cNvSpPr/>
            <p:nvPr/>
          </p:nvSpPr>
          <p:spPr>
            <a:xfrm>
              <a:off x="7315200" y="1981200"/>
              <a:ext cx="2971800" cy="781607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400" dirty="0">
                  <a:latin typeface="Dartmouth Ruzicka" panose="020A0502030205040203" pitchFamily="18" charset="77"/>
                </a:rPr>
                <a:t>Place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32137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The Python Logo | Python Software Foundation">
            <a:extLst>
              <a:ext uri="{FF2B5EF4-FFF2-40B4-BE49-F238E27FC236}">
                <a16:creationId xmlns:a16="http://schemas.microsoft.com/office/drawing/2014/main" id="{D8335043-2A98-07D4-6036-1F59746DB3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6123" y="5255345"/>
            <a:ext cx="2467917" cy="830744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F7ACEDB-9A94-15F5-273A-4BE834D94C1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National 2 Medium" panose="020B0504030502020203" pitchFamily="34" charset="77"/>
              </a:rPr>
              <a:t>Today’s stack:</a:t>
            </a:r>
          </a:p>
          <a:p>
            <a:r>
              <a:rPr lang="en-US" dirty="0" err="1">
                <a:latin typeface="National 2 Medium" panose="020B0504030502020203" pitchFamily="34" charset="77"/>
              </a:rPr>
              <a:t>FastAPI</a:t>
            </a:r>
            <a:r>
              <a:rPr lang="en-US" dirty="0"/>
              <a:t>: Handling routers, controllers, HTTP request mapping</a:t>
            </a:r>
          </a:p>
          <a:p>
            <a:r>
              <a:rPr lang="en-US" dirty="0" err="1">
                <a:latin typeface="National 2 Medium" panose="020B0504030502020203" pitchFamily="34" charset="77"/>
              </a:rPr>
              <a:t>SQLModel</a:t>
            </a:r>
            <a:r>
              <a:rPr lang="en-US" dirty="0"/>
              <a:t>: Handling schemas, models, and database I/O</a:t>
            </a:r>
          </a:p>
          <a:p>
            <a:r>
              <a:rPr lang="en-US" dirty="0">
                <a:latin typeface="National 2 Medium" panose="020B0504030502020203" pitchFamily="34" charset="77"/>
              </a:rPr>
              <a:t>Plain Python</a:t>
            </a:r>
            <a:r>
              <a:rPr lang="en-US" dirty="0"/>
              <a:t>: Implementation of services</a:t>
            </a:r>
          </a:p>
          <a:p>
            <a:r>
              <a:rPr lang="en-US" dirty="0">
                <a:latin typeface="National 2 Medium" panose="020B0504030502020203" pitchFamily="34" charset="77"/>
              </a:rPr>
              <a:t>SQLite</a:t>
            </a:r>
            <a:r>
              <a:rPr lang="en-US" dirty="0"/>
              <a:t>: database engine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7DFCE5-D1B3-9466-447F-EBE817E29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RESTful APIs in Python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88DBF3-3D2A-1D6C-63DC-CA17FA00395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AU" dirty="0" err="1"/>
              <a:t>DevCouRSE</a:t>
            </a:r>
            <a:r>
              <a:rPr lang="en-AU" dirty="0"/>
              <a:t> – RESTful APIs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B69C01-09A6-487A-791E-F060E4CAA27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6</a:t>
            </a:fld>
            <a:endParaRPr lang="en-AU" dirty="0"/>
          </a:p>
        </p:txBody>
      </p:sp>
      <p:pic>
        <p:nvPicPr>
          <p:cNvPr id="6" name="Picture 5" descr="File:SQLite370.svg - Wikimedia Commons">
            <a:extLst>
              <a:ext uri="{FF2B5EF4-FFF2-40B4-BE49-F238E27FC236}">
                <a16:creationId xmlns:a16="http://schemas.microsoft.com/office/drawing/2014/main" id="{68509533-4217-C17A-5C1B-7188A26E7B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816673"/>
            <a:ext cx="1652656" cy="782429"/>
          </a:xfrm>
          <a:prstGeom prst="rect">
            <a:avLst/>
          </a:prstGeom>
        </p:spPr>
      </p:pic>
      <p:pic>
        <p:nvPicPr>
          <p:cNvPr id="7" name="Picture 6" descr="FastAPI logo">
            <a:extLst>
              <a:ext uri="{FF2B5EF4-FFF2-40B4-BE49-F238E27FC236}">
                <a16:creationId xmlns:a16="http://schemas.microsoft.com/office/drawing/2014/main" id="{B7C0E544-DBFB-F4D7-476D-04B03B54E7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0200" y="3810000"/>
            <a:ext cx="3005344" cy="1084671"/>
          </a:xfrm>
          <a:prstGeom prst="rect">
            <a:avLst/>
          </a:prstGeom>
        </p:spPr>
      </p:pic>
      <p:pic>
        <p:nvPicPr>
          <p:cNvPr id="8" name="Graphic 7" descr="SQLModel">
            <a:extLst>
              <a:ext uri="{FF2B5EF4-FFF2-40B4-BE49-F238E27FC236}">
                <a16:creationId xmlns:a16="http://schemas.microsoft.com/office/drawing/2014/main" id="{E21DE765-E9A5-6531-EAC6-B90C2180C5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30081" y="4586046"/>
            <a:ext cx="3005344" cy="83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384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8586D7B-0A4A-54FB-8CE8-687917B7F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124200"/>
            <a:ext cx="7389409" cy="2015106"/>
          </a:xfrm>
        </p:spPr>
        <p:txBody>
          <a:bodyPr/>
          <a:lstStyle/>
          <a:p>
            <a:r>
              <a:rPr lang="en-US" dirty="0"/>
              <a:t>Let’s get into it!</a:t>
            </a:r>
            <a:br>
              <a:rPr lang="en-US" dirty="0"/>
            </a:b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0A048C-D46F-B013-C8F2-1DD3C3E95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AU"/>
              <a:t>DevCouRSE – RESTful APIs</a:t>
            </a:r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5607A6-3D9A-C973-4320-3357E38CF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7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3511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E59FF09-7BB6-72BC-CD53-49F6C1104CD7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457200" indent="-457200">
              <a:buBlip>
                <a:blip r:embed="rId2"/>
              </a:buBlip>
            </a:pPr>
            <a:r>
              <a:rPr lang="en-US" dirty="0"/>
              <a:t>Clone repo (if you fork, fork all branches!): 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hlinkClick r:id="rId3"/>
              </a:rPr>
              <a:t>https://github.com/dartmouth/devcourse-python-api-handson</a:t>
            </a:r>
            <a:endParaRPr lang="en-US" dirty="0"/>
          </a:p>
          <a:p>
            <a:pPr marL="457200" indent="-457200">
              <a:buSzPct val="80000"/>
              <a:buFont typeface="System Font Regular"/>
              <a:buChar char="🚀"/>
            </a:pPr>
            <a:r>
              <a:rPr lang="en-US" dirty="0"/>
              <a:t>In the project root: </a:t>
            </a:r>
            <a:r>
              <a:rPr lang="en-US" sz="2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uv</a:t>
            </a:r>
            <a:r>
              <a:rPr lang="en-US" sz="2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sync</a:t>
            </a:r>
          </a:p>
          <a:p>
            <a:pPr marL="457200" indent="-457200">
              <a:buSzPct val="80000"/>
              <a:buFont typeface="System Font Regular"/>
              <a:buChar char="🐾"/>
            </a:pPr>
            <a:r>
              <a:rPr lang="en-US" dirty="0">
                <a:latin typeface="National 2" panose="020B0504030502020203" pitchFamily="34" charset="77"/>
                <a:ea typeface="Menlo" panose="020B0609030804020204" pitchFamily="49" charset="0"/>
                <a:cs typeface="Menlo" panose="020B0609030804020204" pitchFamily="49" charset="0"/>
              </a:rPr>
              <a:t>A reference implementation of each step is in a separate branch</a:t>
            </a:r>
          </a:p>
          <a:p>
            <a:pPr marL="0" indent="0">
              <a:buNone/>
            </a:pPr>
            <a:endParaRPr lang="en-US" sz="2400" dirty="0">
              <a:latin typeface="National 2" panose="020B0504030502020203" pitchFamily="34" charset="77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71CA022-33BE-007B-EDE7-500208A16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AE7CFC-9DF9-2426-8CA5-86853F0527B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/>
            <a:r>
              <a:rPr lang="en-AU"/>
              <a:t>DevCouRSE – RESTful APIs</a:t>
            </a:r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CA81EC-9AE9-0F1E-1D21-7CCA92C5C9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8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69339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9C4A9-B83D-040A-A372-FFBB8548C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84E823C-40D6-0DF1-EF95-7A0ADE2DB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124200"/>
            <a:ext cx="7389409" cy="2015106"/>
          </a:xfrm>
        </p:spPr>
        <p:txBody>
          <a:bodyPr/>
          <a:lstStyle/>
          <a:p>
            <a:r>
              <a:rPr lang="en-US" dirty="0"/>
              <a:t>Step 0: Boilerplate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59FF03-B722-F445-0FC2-F7F03D23A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AU"/>
              <a:t>DevCouRSE – RESTful APIs</a:t>
            </a:r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6BB0B1-C9B6-074B-A960-542379CA8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9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4432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4535E-7C3B-094C-961C-42BCC73B1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0211E1C-BFE7-EE87-5C94-D295CE158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124200"/>
            <a:ext cx="7389409" cy="2015106"/>
          </a:xfrm>
        </p:spPr>
        <p:txBody>
          <a:bodyPr/>
          <a:lstStyle/>
          <a:p>
            <a:r>
              <a:rPr lang="en-US" dirty="0"/>
              <a:t>Step 1: Health check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CF79F5-AAEA-6AD8-0D0E-6A01A8223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AU"/>
              <a:t>DevCouRSE – RESTful APIs</a:t>
            </a:r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399990-9597-166A-2FE9-7DD88647F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10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42099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5A9D1-87EA-F75B-9567-B826EAAB3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B77CBC1-C526-E7A8-5947-4BBB6CF33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124200"/>
            <a:ext cx="7389409" cy="2015106"/>
          </a:xfrm>
        </p:spPr>
        <p:txBody>
          <a:bodyPr/>
          <a:lstStyle/>
          <a:p>
            <a:r>
              <a:rPr lang="en-US" dirty="0"/>
              <a:t>Step 2: Places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D92F72-890A-D976-6446-9DB7E2023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AU"/>
              <a:t>DevCouRSE – RESTful APIs</a:t>
            </a:r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0E1336-C844-FDD8-4D63-F15696C8E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11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78852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BBD463-ED58-C181-74C7-BFF528CA6E31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 lnSpcReduction="10000"/>
          </a:bodyPr>
          <a:lstStyle/>
          <a:p>
            <a:pPr>
              <a:buSzPct val="80000"/>
              <a:buFont typeface="System Font Regular"/>
              <a:buChar char="❗️"/>
            </a:pPr>
            <a:r>
              <a:rPr lang="en-US" b="1" dirty="0"/>
              <a:t>No database yet!</a:t>
            </a:r>
          </a:p>
          <a:p>
            <a:r>
              <a:rPr lang="en-US" dirty="0"/>
              <a:t>In </a:t>
            </a:r>
            <a:r>
              <a:rPr lang="en-US" sz="2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schemas.py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Define a 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Place</a:t>
            </a:r>
            <a:r>
              <a:rPr lang="en-US" dirty="0"/>
              <a:t> schema</a:t>
            </a:r>
          </a:p>
          <a:p>
            <a:r>
              <a:rPr lang="en-US" dirty="0"/>
              <a:t>In </a:t>
            </a:r>
            <a:r>
              <a:rPr lang="en-US" sz="2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routers/</a:t>
            </a:r>
            <a:r>
              <a:rPr lang="en-US" sz="2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places.py</a:t>
            </a:r>
            <a:r>
              <a:rPr lang="en-US" dirty="0">
                <a:latin typeface="National 2" panose="020B0504030502020203" pitchFamily="34" charset="77"/>
                <a:ea typeface="Menlo" panose="020B0609030804020204" pitchFamily="49" charset="0"/>
                <a:cs typeface="Menlo" panose="020B0609030804020204" pitchFamily="49" charset="0"/>
              </a:rPr>
              <a:t>:</a:t>
            </a:r>
            <a:endParaRPr lang="en-US" sz="2400" dirty="0">
              <a:latin typeface="National 2" panose="020B0504030502020203" pitchFamily="34" charset="77"/>
              <a:ea typeface="Menlo" panose="020B0609030804020204" pitchFamily="49" charset="0"/>
              <a:cs typeface="Menlo" panose="020B0609030804020204" pitchFamily="49" charset="0"/>
            </a:endParaRPr>
          </a:p>
          <a:p>
            <a:pPr lvl="1"/>
            <a:r>
              <a:rPr lang="en-US" dirty="0"/>
              <a:t>Create a list with a few mocked-up 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Place</a:t>
            </a:r>
            <a:r>
              <a:rPr lang="en-US" dirty="0"/>
              <a:t> objects</a:t>
            </a:r>
          </a:p>
          <a:p>
            <a:pPr lvl="1"/>
            <a:r>
              <a:rPr lang="en-US" dirty="0"/>
              <a:t>Create a route to return the whole list</a:t>
            </a:r>
          </a:p>
          <a:p>
            <a:pPr lvl="1"/>
            <a:r>
              <a:rPr lang="en-US" dirty="0"/>
              <a:t>Create a route to return a 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Place</a:t>
            </a:r>
            <a:r>
              <a:rPr lang="en-US" dirty="0"/>
              <a:t> in that list with a specific ID</a:t>
            </a:r>
          </a:p>
          <a:p>
            <a:pPr lvl="1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12329E3-DE36-2891-EADF-C125383F1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2: Places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35EF0E-4A6E-137C-6442-72AB2FC2682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/>
            <a:r>
              <a:rPr lang="en-AU"/>
              <a:t>DevCouRSE – RESTful APIs</a:t>
            </a:r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3C1760-2B2B-EA30-6828-672F605652B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12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42207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77FAE-9157-3AAB-B8B0-49F7372FE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D2F70FD-40ED-019E-B66B-CEA5F13FF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124200"/>
            <a:ext cx="7389409" cy="2015106"/>
          </a:xfrm>
        </p:spPr>
        <p:txBody>
          <a:bodyPr/>
          <a:lstStyle/>
          <a:p>
            <a:r>
              <a:rPr lang="en-US" dirty="0"/>
              <a:t>Step 3: Database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BF7F14-D7F3-A09D-2B77-03820333E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AU"/>
              <a:t>DevCouRSE – RESTful APIs</a:t>
            </a:r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737475-7CD7-629A-CF2C-2C2902E5F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13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43426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181BE80-C41D-8D2C-E933-D8327439356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000" dirty="0"/>
              <a:t>In </a:t>
            </a:r>
            <a:r>
              <a:rPr lang="en-US" sz="18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models.py</a:t>
            </a:r>
            <a:r>
              <a:rPr lang="en-US" sz="2000" dirty="0"/>
              <a:t>:</a:t>
            </a:r>
          </a:p>
          <a:p>
            <a:pPr lvl="1"/>
            <a:r>
              <a:rPr lang="en-US" sz="2000" dirty="0"/>
              <a:t>Turn </a:t>
            </a:r>
            <a:r>
              <a:rPr lang="en-US" sz="1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Place</a:t>
            </a:r>
            <a:r>
              <a:rPr lang="en-US" sz="2000" dirty="0"/>
              <a:t> schema into a model</a:t>
            </a:r>
          </a:p>
          <a:p>
            <a:r>
              <a:rPr lang="en-US" sz="2000" dirty="0"/>
              <a:t>In </a:t>
            </a:r>
            <a:r>
              <a:rPr lang="en-US" sz="18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schemas.py</a:t>
            </a:r>
            <a:r>
              <a:rPr lang="en-US" sz="2000" dirty="0"/>
              <a:t>:</a:t>
            </a:r>
          </a:p>
          <a:p>
            <a:pPr lvl="1"/>
            <a:r>
              <a:rPr lang="en-US" sz="2000" dirty="0"/>
              <a:t>Add </a:t>
            </a:r>
            <a:r>
              <a:rPr lang="en-US" sz="18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PlaceResponse</a:t>
            </a:r>
            <a:r>
              <a:rPr lang="en-US" sz="2000" dirty="0"/>
              <a:t> and </a:t>
            </a:r>
            <a:r>
              <a:rPr lang="en-US" sz="18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PlaceCreate</a:t>
            </a:r>
            <a:r>
              <a:rPr lang="en-US" sz="2000" dirty="0"/>
              <a:t> schemas</a:t>
            </a:r>
          </a:p>
          <a:p>
            <a:r>
              <a:rPr lang="en-US" sz="2000" dirty="0"/>
              <a:t>In </a:t>
            </a:r>
            <a:r>
              <a:rPr lang="en-US" sz="18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database.py</a:t>
            </a:r>
            <a:r>
              <a:rPr lang="en-US" sz="2000" dirty="0"/>
              <a:t>:</a:t>
            </a:r>
          </a:p>
          <a:p>
            <a:pPr lvl="1"/>
            <a:r>
              <a:rPr lang="en-US" sz="2000" dirty="0"/>
              <a:t>Add a function to create the database and tables</a:t>
            </a:r>
          </a:p>
          <a:p>
            <a:pPr lvl="1"/>
            <a:r>
              <a:rPr lang="en-US" sz="2000" dirty="0"/>
              <a:t>Add a session factory function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A2F123E-FEB3-16B2-C379-796A74C22CE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sz="2000" dirty="0"/>
              <a:t>In </a:t>
            </a:r>
            <a:r>
              <a:rPr lang="en-US" sz="18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main.py</a:t>
            </a:r>
            <a:r>
              <a:rPr lang="en-US" sz="2000" dirty="0"/>
              <a:t>:</a:t>
            </a:r>
          </a:p>
          <a:p>
            <a:pPr lvl="1"/>
            <a:r>
              <a:rPr lang="en-US" sz="2000" dirty="0"/>
              <a:t>Call database creation function as part of the API app’s lifespan</a:t>
            </a:r>
          </a:p>
          <a:p>
            <a:r>
              <a:rPr lang="en-US" sz="2000" dirty="0"/>
              <a:t>In </a:t>
            </a:r>
            <a:r>
              <a:rPr lang="en-US" sz="1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routers/</a:t>
            </a:r>
            <a:r>
              <a:rPr lang="en-US" sz="18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places.py</a:t>
            </a:r>
            <a:r>
              <a:rPr lang="en-US" sz="2000" dirty="0"/>
              <a:t>:</a:t>
            </a:r>
          </a:p>
          <a:p>
            <a:pPr lvl="1"/>
            <a:r>
              <a:rPr lang="en-US" sz="2000" dirty="0"/>
              <a:t>Refactor </a:t>
            </a:r>
            <a:r>
              <a:rPr lang="en-US" sz="1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/places</a:t>
            </a:r>
            <a:r>
              <a:rPr lang="en-US" sz="2000" dirty="0"/>
              <a:t> and </a:t>
            </a:r>
            <a:r>
              <a:rPr lang="en-US" sz="1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/places/{</a:t>
            </a:r>
            <a:r>
              <a:rPr lang="en-US" sz="18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place_id</a:t>
            </a:r>
            <a:r>
              <a:rPr lang="en-US" sz="1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} </a:t>
            </a:r>
            <a:r>
              <a:rPr lang="en-US" sz="2000" dirty="0"/>
              <a:t>to use database</a:t>
            </a:r>
          </a:p>
          <a:p>
            <a:pPr lvl="1"/>
            <a:r>
              <a:rPr lang="en-US" sz="2000" dirty="0"/>
              <a:t>Add route to create a </a:t>
            </a:r>
            <a:r>
              <a:rPr lang="en-US" sz="1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Place</a:t>
            </a:r>
          </a:p>
          <a:p>
            <a:pPr lvl="1"/>
            <a:r>
              <a:rPr lang="en-US" sz="2000" dirty="0"/>
              <a:t>Add route to update a </a:t>
            </a:r>
            <a:r>
              <a:rPr lang="en-US" sz="1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Place</a:t>
            </a:r>
          </a:p>
          <a:p>
            <a:pPr lvl="1"/>
            <a:r>
              <a:rPr lang="en-US" sz="2000" dirty="0"/>
              <a:t>Add route to delete a </a:t>
            </a:r>
            <a:r>
              <a:rPr lang="en-US" sz="18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Place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E60CE9E-60AB-BA38-5944-5C5362BF8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3: Database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FB48A1-EB0F-0A75-0D55-B40370F66FA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ctr"/>
            <a:r>
              <a:rPr lang="en-AU"/>
              <a:t>DevCouRSE – RESTful APIs</a:t>
            </a:r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A3F475-287D-6A69-515B-87BDB0B256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14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11508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05DFA-238F-2713-E73F-4BED218C5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EB83E83-3DD4-88DC-C450-8149F81CA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124200"/>
            <a:ext cx="7389409" cy="2015106"/>
          </a:xfrm>
        </p:spPr>
        <p:txBody>
          <a:bodyPr/>
          <a:lstStyle/>
          <a:p>
            <a:r>
              <a:rPr lang="en-US" dirty="0"/>
              <a:t>Step 4: Auth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FDE674-F30A-3A7C-341C-69D6DC801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AU"/>
              <a:t>DevCouRSE – RESTful APIs</a:t>
            </a:r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C2A3CA-3280-E08E-F223-9430CBCFA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15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50913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339C0-1A12-B78A-661E-77BA8D97F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1AC7C5A-EED3-F5FA-F58D-564B34BCF5EC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In </a:t>
            </a:r>
            <a:r>
              <a:rPr lang="en-US" sz="2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middleware/</a:t>
            </a:r>
            <a:r>
              <a:rPr lang="en-US" sz="24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auth.py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Implement a function to verify a bearer token</a:t>
            </a:r>
          </a:p>
          <a:p>
            <a:r>
              <a:rPr lang="en-US" dirty="0"/>
              <a:t>Use dependency injection to protect endpoints:</a:t>
            </a:r>
          </a:p>
          <a:p>
            <a:pPr lvl="1"/>
            <a:r>
              <a:rPr lang="en-US" dirty="0"/>
              <a:t>Protect the entire </a:t>
            </a: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/places</a:t>
            </a:r>
            <a:r>
              <a:rPr lang="en-US" dirty="0"/>
              <a:t> router</a:t>
            </a:r>
          </a:p>
          <a:p>
            <a:pPr lvl="1"/>
            <a:r>
              <a:rPr lang="en-US" dirty="0">
                <a:latin typeface="National 2 Medium" panose="020B0504030502020203" pitchFamily="34" charset="77"/>
              </a:rPr>
              <a:t>Bonus: </a:t>
            </a:r>
            <a:r>
              <a:rPr lang="en-US" dirty="0"/>
              <a:t>Protect only the routes that write to the database</a:t>
            </a:r>
          </a:p>
          <a:p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30E07C8-5DB4-528E-E1E2-A7166C095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4: Auth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E90E57-40AE-9349-112E-B44972A5999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ctr"/>
            <a:r>
              <a:rPr lang="en-AU"/>
              <a:t>DevCouRSE – RESTful APIs</a:t>
            </a:r>
            <a:endParaRPr lang="en-AU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CFF54C-B7AB-81CD-D44C-0E373997DF0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16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41908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8D359ED-81E1-4152-B5FF-BC60446F6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Thank you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B3A763-8648-4E79-A29B-28D21C771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AU"/>
              <a:t>DevCouRSE – RESTful APIs</a:t>
            </a:r>
            <a:endParaRPr lang="en-AU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61673-B619-48AC-86E7-428A4A84E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17DE0E-AFB1-41FD-BC35-27DB61CA125F}" type="slidenum">
              <a:rPr lang="en-AU" smtClean="0"/>
              <a:pPr/>
              <a:t>17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85817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artmouth">
  <a:themeElements>
    <a:clrScheme name="Custom 4">
      <a:dk1>
        <a:srgbClr val="000000"/>
      </a:dk1>
      <a:lt1>
        <a:srgbClr val="FFFFFF"/>
      </a:lt1>
      <a:dk2>
        <a:srgbClr val="797979"/>
      </a:dk2>
      <a:lt2>
        <a:srgbClr val="D9D9D9"/>
      </a:lt2>
      <a:accent1>
        <a:srgbClr val="00693E"/>
      </a:accent1>
      <a:accent2>
        <a:srgbClr val="12312B"/>
      </a:accent2>
      <a:accent3>
        <a:srgbClr val="C3DD88"/>
      </a:accent3>
      <a:accent4>
        <a:srgbClr val="6EAA8D"/>
      </a:accent4>
      <a:accent5>
        <a:srgbClr val="797979"/>
      </a:accent5>
      <a:accent6>
        <a:srgbClr val="EBF3EF"/>
      </a:accent6>
      <a:hlink>
        <a:srgbClr val="00693E"/>
      </a:hlink>
      <a:folHlink>
        <a:srgbClr val="12312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5" id="{9BDFE68F-32AD-624C-A23D-A8B43BC3826E}" vid="{B888FB7D-3126-4C4C-9BB5-7BAF71B92B1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Dartmouth</Template>
  <TotalTime>3820</TotalTime>
  <Words>531</Words>
  <Application>Microsoft Macintosh PowerPoint</Application>
  <PresentationFormat>Widescreen</PresentationFormat>
  <Paragraphs>137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Calibri</vt:lpstr>
      <vt:lpstr>Dartmouth Ruzicka</vt:lpstr>
      <vt:lpstr>Menlo</vt:lpstr>
      <vt:lpstr>National 2</vt:lpstr>
      <vt:lpstr>National 2 Medium</vt:lpstr>
      <vt:lpstr>System Font Regular</vt:lpstr>
      <vt:lpstr>Dartmouth</vt:lpstr>
      <vt:lpstr>PowerPoint Presentation</vt:lpstr>
      <vt:lpstr>Hands-on: RESTful APIs with Python A DevCouRSE Workshop  </vt:lpstr>
      <vt:lpstr>REST Actions &lt;-&gt; HTTP Methods</vt:lpstr>
      <vt:lpstr>Life-cycle of a typical backend API request</vt:lpstr>
      <vt:lpstr>Today’s Project:  Dartmouth Places</vt:lpstr>
      <vt:lpstr>Implementing RESTful APIs in Python</vt:lpstr>
      <vt:lpstr>Let’s get into it! </vt:lpstr>
      <vt:lpstr>Setup</vt:lpstr>
      <vt:lpstr>Step 0: Boilerplate</vt:lpstr>
      <vt:lpstr>Step 1: Health check</vt:lpstr>
      <vt:lpstr>Step 2: Places</vt:lpstr>
      <vt:lpstr>Step 2: Places</vt:lpstr>
      <vt:lpstr>Step 3: Database</vt:lpstr>
      <vt:lpstr>Step 3: Database</vt:lpstr>
      <vt:lpstr>Step 4: Auth</vt:lpstr>
      <vt:lpstr>Step 4: Auth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Simon Stone</dc:creator>
  <cp:keywords/>
  <dc:description/>
  <cp:lastModifiedBy>Simon Stone</cp:lastModifiedBy>
  <cp:revision>155</cp:revision>
  <cp:lastPrinted>2018-02-22T17:02:12Z</cp:lastPrinted>
  <dcterms:created xsi:type="dcterms:W3CDTF">2025-10-29T18:55:51Z</dcterms:created>
  <dcterms:modified xsi:type="dcterms:W3CDTF">2026-09-15T13:40:57Z</dcterms:modified>
  <cp:category/>
</cp:coreProperties>
</file>